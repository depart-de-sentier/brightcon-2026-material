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4"/>
  </p:sldMasterIdLst>
  <p:notesMasterIdLst>
    <p:notesMasterId r:id="rId14"/>
  </p:notesMasterIdLst>
  <p:handoutMasterIdLst>
    <p:handoutMasterId r:id="rId15"/>
  </p:handoutMasterIdLst>
  <p:sldIdLst>
    <p:sldId id="418" r:id="rId5"/>
    <p:sldId id="431" r:id="rId6"/>
    <p:sldId id="396" r:id="rId7"/>
    <p:sldId id="397" r:id="rId8"/>
    <p:sldId id="398" r:id="rId9"/>
    <p:sldId id="399" r:id="rId10"/>
    <p:sldId id="400" r:id="rId11"/>
    <p:sldId id="428" r:id="rId12"/>
    <p:sldId id="432" r:id="rId13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04F914-AD67-DF11-DA28-AC8AEB7FD0C4}" name="Jakobs, Artos" initials="AJ" userId="S::artos.jakobs@psi.ch::3a1953f4-9815-4f1e-a63d-c40659106970" providerId="AD"/>
  <p188:author id="{51015681-52E8-0F79-79F1-C1DFEBAA1B62}" name="Müller, A. (Amelie)" initials="AM" userId="S::mullera@vuw.leidenuniv.nl::765e62c1-48ab-42f8-ab7e-3f30dd6203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D4635"/>
    <a:srgbClr val="000073"/>
    <a:srgbClr val="F1E8EF"/>
    <a:srgbClr val="DC0059"/>
    <a:srgbClr val="F0F0F0"/>
    <a:srgbClr val="CBCCF5"/>
    <a:srgbClr val="E7E7FA"/>
    <a:srgbClr val="EBE7F9"/>
    <a:srgbClr val="D5CCF2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91"/>
    <p:restoredTop sz="94658"/>
  </p:normalViewPr>
  <p:slideViewPr>
    <p:cSldViewPr snapToGrid="0">
      <p:cViewPr varScale="1">
        <p:scale>
          <a:sx n="116" d="100"/>
          <a:sy n="11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2480" y="249031"/>
            <a:ext cx="4282476" cy="336705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092527" y="249031"/>
            <a:ext cx="1232669" cy="336705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/>
              <a:t>18.09.26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2480" y="9215733"/>
            <a:ext cx="4282476" cy="35969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092527" y="9215736"/>
            <a:ext cx="1232669" cy="3596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976313"/>
            <a:ext cx="6034087" cy="339566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68425" y="9457664"/>
            <a:ext cx="2210809" cy="1948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14613" y="9457664"/>
            <a:ext cx="863510" cy="1948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66620" y="4650633"/>
            <a:ext cx="5511501" cy="4612101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192603" y="462286"/>
            <a:ext cx="2076877" cy="201617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18.09.26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57977" y="468975"/>
            <a:ext cx="3220500" cy="19492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E7B40F6-0846-6406-28FC-523CF76DA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" y="1558"/>
            <a:ext cx="12189228" cy="685488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03EDDF5-0688-3946-B33B-41892CA0C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74AB44-A37E-131D-7BC4-3033AC45E5F1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854"/>
            <a:ext cx="8045451" cy="200799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</p:spTree>
    <p:extLst>
      <p:ext uri="{BB962C8B-B14F-4D97-AF65-F5344CB8AC3E}">
        <p14:creationId xmlns:p14="http://schemas.microsoft.com/office/powerpoint/2010/main" val="42108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ark Blu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38B4CC7-4229-EEF9-D03A-D0C0BD398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1A0EB6-6787-66B7-839C-B8C9CE487C0B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61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6538B63-A40B-2238-426D-2D6DC8B5A9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8D0CA88-6CB9-96EF-A545-083000EA4E6B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8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BA2BBC0-91C4-A383-E617-A518199B8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7412"/>
            <a:ext cx="5292725" cy="2006436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78130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FD507A-2C45-F79E-8E9E-9BA37C9723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0AB248-B157-35A3-8FF9-E4767AB90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7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Pi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77F36C0-0DD8-2E8F-7E45-9499E236E2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51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4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397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Yello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2253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8964613" cy="4644616"/>
          </a:xfrm>
        </p:spPr>
        <p:txBody>
          <a:bodyPr/>
          <a:lstStyle>
            <a:lvl1pPr defTabSz="984250">
              <a:tabLst>
                <a:tab pos="536575" algn="l"/>
              </a:tabLst>
              <a:defRPr/>
            </a:lvl1pPr>
            <a:lvl2pPr>
              <a:tabLst>
                <a:tab pos="536575" algn="l"/>
              </a:tabLst>
              <a:defRPr/>
            </a:lvl2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939BEE7-204C-1008-67F3-C8FC6E64E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tra 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10801349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65109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5291476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3327075-DC64-5DAB-E02B-8A18CBF5A99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05201" y="1376773"/>
            <a:ext cx="5291474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788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5292725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48" y="1449389"/>
            <a:ext cx="529272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599391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203950" y="1376773"/>
            <a:ext cx="5292724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813573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5" y="1449389"/>
            <a:ext cx="8964613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152932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7129461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F99B93C7-FD88-F860-2772-AA3BFEC82D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37062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345757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5A45EC1-6C70-C75B-70A0-557B1FE6DA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2432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772A35F-591D-5A80-72BC-28B068C3A5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204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089D7F61-76FC-5B15-D914-2BB427BF71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3834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CA68BBC-536B-0C49-B239-F2A8A8ACB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10008472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wid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9159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A0213-C397-B258-EE3A-69DBB54DD3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53982"/>
            <a:ext cx="5291476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E0905A-F588-783E-2408-3EEBCC47B7C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05201" y="4553982"/>
            <a:ext cx="5291474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1268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1B3F6C3-759F-AE0A-F24C-FF78D18C5F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982B28-131F-0EF1-DBEF-7E5426DA6F8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68801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3A5C3130-D9C4-9998-9902-8B054B64116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040688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5880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2B3EE353-935F-47F2-890E-86D599D69C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532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891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21725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5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5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0688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7254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8300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FF900A0F-DD38-976A-BFC1-92B5ACB7395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95325" y="3852000"/>
            <a:ext cx="2538000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30B9B83-A2E6-A97A-6B7B-389BCDC2C8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325" y="3299877"/>
            <a:ext cx="253682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CD6A5AE7-8194-069E-96C6-A9A19A691F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2540001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2" name="Textplatzhalter 19">
            <a:extLst>
              <a:ext uri="{FF2B5EF4-FFF2-40B4-BE49-F238E27FC236}">
                <a16:creationId xmlns:a16="http://schemas.microsoft.com/office/drawing/2014/main" id="{E33B1E40-AEE0-028C-74FA-4DA2F2785C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4805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6CF8C6E7-2EBA-0F42-5F97-0B15A298F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830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A8581B57-63E2-3060-2AF6-9711ABA149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5617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15C431B-993D-61F7-28CB-6E9C6E916B2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57560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5F9CC3CC-2D09-5169-EE63-2F307DD025A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4489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05CD9CF5-8030-A2FA-B5F1-BDE8A3AB64F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028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3318096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lv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248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6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6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6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589240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6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04724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75092" y="3204724"/>
            <a:ext cx="1623171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1C50D6C7-B8FE-16E3-A56F-215DF2E7FD0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532062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F254DC50-8CC2-CE50-0FB2-B9D82F2F6F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32062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4356FD2E-817C-6008-A624-C0ED226EC77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02363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B844240D-6410-EAE1-FBFE-02793B43B5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2362" y="3204724"/>
            <a:ext cx="162242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4729A6D7-E881-5FD5-1C1E-FD7A660187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40688" y="1449389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86799E5C-45B4-E8EF-0A33-26FADBDA89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0688" y="3204724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0480596-0358-6167-AD5A-A43149936E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32062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99EB327B-0262-FA88-4B41-185878FCDBA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2062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7383DAC6-063E-B185-1200-CBEAF6F1917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03950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814D2A83-C214-5D3D-33E5-499378F10F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3950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0C7EA178-EA7E-CEB6-BCCA-A6C695A390C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873502" y="3852000"/>
            <a:ext cx="1623171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67FC58FF-0434-E3CF-0015-FA751A6F2C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74346" y="5589240"/>
            <a:ext cx="162391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212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ull siz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0"/>
            <a:ext cx="5988052" cy="685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59880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4131407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6847926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278296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1376364"/>
            <a:ext cx="10801275" cy="4645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75837" y="6404573"/>
            <a:ext cx="1620837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14487" y="6404573"/>
            <a:ext cx="8045451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5325" y="6404573"/>
            <a:ext cx="703263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C2031EC-4715-FBAB-E65E-0A3E5D91D8E4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133" y="305378"/>
            <a:ext cx="881467" cy="362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B93CE-97DE-DD36-B787-EFB0F6FEC0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128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as Internal | Intern</a:t>
            </a:r>
          </a:p>
        </p:txBody>
      </p: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7" r:id="rId2"/>
    <p:sldLayoutId id="2147483715" r:id="rId3"/>
    <p:sldLayoutId id="2147483723" r:id="rId4"/>
    <p:sldLayoutId id="2147483738" r:id="rId5"/>
    <p:sldLayoutId id="2147483739" r:id="rId6"/>
    <p:sldLayoutId id="2147483740" r:id="rId7"/>
    <p:sldLayoutId id="2147483694" r:id="rId8"/>
    <p:sldLayoutId id="2147483737" r:id="rId9"/>
    <p:sldLayoutId id="2147483692" r:id="rId10"/>
    <p:sldLayoutId id="2147483693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5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95" r:id="rId25"/>
    <p:sldLayoutId id="2147483677" r:id="rId26"/>
    <p:sldLayoutId id="2147483679" r:id="rId27"/>
    <p:sldLayoutId id="2147483678" r:id="rId28"/>
    <p:sldLayoutId id="2147483680" r:id="rId29"/>
    <p:sldLayoutId id="2147483681" r:id="rId30"/>
    <p:sldLayoutId id="2147483682" r:id="rId31"/>
    <p:sldLayoutId id="2147483683" r:id="rId32"/>
    <p:sldLayoutId id="2147483663" r:id="rId33"/>
    <p:sldLayoutId id="2147483664" r:id="rId3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913" userDrawn="1">
          <p15:clr>
            <a:srgbClr val="A4A3A4"/>
          </p15:clr>
        </p15:guide>
        <p15:guide id="5" pos="3772" userDrawn="1">
          <p15:clr>
            <a:srgbClr val="A4A3A4"/>
          </p15:clr>
        </p15:guide>
        <p15:guide id="6" pos="3908" userDrawn="1">
          <p15:clr>
            <a:srgbClr val="A4A3A4"/>
          </p15:clr>
        </p15:guide>
        <p15:guide id="7" pos="2751" userDrawn="1">
          <p15:clr>
            <a:srgbClr val="A4A3A4"/>
          </p15:clr>
        </p15:guide>
        <p15:guide id="8" pos="2615" userDrawn="1">
          <p15:clr>
            <a:srgbClr val="A4A3A4"/>
          </p15:clr>
        </p15:guide>
        <p15:guide id="9" pos="1595" userDrawn="1">
          <p15:clr>
            <a:srgbClr val="A4A3A4"/>
          </p15:clr>
        </p15:guide>
        <p15:guide id="10" pos="1459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065" userDrawn="1">
          <p15:clr>
            <a:srgbClr val="A4A3A4"/>
          </p15:clr>
        </p15:guide>
        <p15:guide id="13" pos="6085" userDrawn="1">
          <p15:clr>
            <a:srgbClr val="A4A3A4"/>
          </p15:clr>
        </p15:guide>
        <p15:guide id="14" pos="6221" userDrawn="1">
          <p15:clr>
            <a:srgbClr val="A4A3A4"/>
          </p15:clr>
        </p15:guide>
        <p15:guide id="15" pos="2172" userDrawn="1">
          <p15:clr>
            <a:srgbClr val="A4A3A4"/>
          </p15:clr>
        </p15:guide>
        <p15:guide id="16" pos="2036" userDrawn="1">
          <p15:clr>
            <a:srgbClr val="A4A3A4"/>
          </p15:clr>
        </p15:guide>
        <p15:guide id="17" pos="3194" userDrawn="1">
          <p15:clr>
            <a:srgbClr val="A4A3A4"/>
          </p15:clr>
        </p15:guide>
        <p15:guide id="18" pos="3330" userDrawn="1">
          <p15:clr>
            <a:srgbClr val="A4A3A4"/>
          </p15:clr>
        </p15:guide>
        <p15:guide id="19" pos="881" userDrawn="1">
          <p15:clr>
            <a:srgbClr val="A4A3A4"/>
          </p15:clr>
        </p15:guide>
        <p15:guide id="20" pos="1017" userDrawn="1">
          <p15:clr>
            <a:srgbClr val="A4A3A4"/>
          </p15:clr>
        </p15:guide>
        <p15:guide id="21" pos="4351" userDrawn="1">
          <p15:clr>
            <a:srgbClr val="A4A3A4"/>
          </p15:clr>
        </p15:guide>
        <p15:guide id="22" pos="4487" userDrawn="1">
          <p15:clr>
            <a:srgbClr val="A4A3A4"/>
          </p15:clr>
        </p15:guide>
        <p15:guide id="23" pos="5508" userDrawn="1">
          <p15:clr>
            <a:srgbClr val="A4A3A4"/>
          </p15:clr>
        </p15:guide>
        <p15:guide id="24" pos="5642" userDrawn="1">
          <p15:clr>
            <a:srgbClr val="A4A3A4"/>
          </p15:clr>
        </p15:guide>
        <p15:guide id="25" pos="6663" userDrawn="1">
          <p15:clr>
            <a:srgbClr val="A4A3A4"/>
          </p15:clr>
        </p15:guide>
        <p15:guide id="26" pos="6799" userDrawn="1">
          <p15:clr>
            <a:srgbClr val="A4A3A4"/>
          </p15:clr>
        </p15:guide>
        <p15:guide id="27" orient="horz" pos="229" userDrawn="1">
          <p15:clr>
            <a:srgbClr val="A4A3A4"/>
          </p15:clr>
        </p15:guide>
        <p15:guide id="28" orient="horz" pos="867" userDrawn="1">
          <p15:clr>
            <a:srgbClr val="A4A3A4"/>
          </p15:clr>
        </p15:guide>
        <p15:guide id="29" orient="horz" pos="379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9.svg"/><Relationship Id="rId7" Type="http://schemas.openxmlformats.org/officeDocument/2006/relationships/image" Target="../media/image25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7.svg"/><Relationship Id="rId4" Type="http://schemas.openxmlformats.org/officeDocument/2006/relationships/image" Target="../media/image20.sv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31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30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29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2725F-19D9-DB5B-D4D6-A84A7F68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89" y="6117211"/>
            <a:ext cx="703263" cy="144016"/>
          </a:xfr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1</a:t>
            </a:fld>
            <a:endParaRPr lang="en-GB" noProof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8851F2-FEA8-8DF9-B433-AA31C8CB57AF}"/>
              </a:ext>
            </a:extLst>
          </p:cNvPr>
          <p:cNvGrpSpPr/>
          <p:nvPr/>
        </p:nvGrpSpPr>
        <p:grpSpPr>
          <a:xfrm>
            <a:off x="1629720" y="2962281"/>
            <a:ext cx="8932560" cy="880018"/>
            <a:chOff x="1528566" y="2962281"/>
            <a:chExt cx="8932560" cy="880018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5471285-2A95-B837-A001-060E2AB011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76437" y="2962281"/>
              <a:ext cx="3384689" cy="88001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7BEDB-5539-53FC-14C1-56D32B961C72}"/>
                </a:ext>
              </a:extLst>
            </p:cNvPr>
            <p:cNvSpPr txBox="1"/>
            <p:nvPr/>
          </p:nvSpPr>
          <p:spPr>
            <a:xfrm>
              <a:off x="1528566" y="3074361"/>
              <a:ext cx="5415040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4400" dirty="0"/>
                <a:t>T</a:t>
              </a:r>
              <a:r>
                <a:rPr lang="en-BE" sz="4400" dirty="0" err="1"/>
                <a:t>ime</a:t>
              </a:r>
              <a:r>
                <a:rPr lang="en-BE" sz="4400" dirty="0"/>
                <a:t>-explicit LCA</a:t>
              </a:r>
              <a:r>
                <a:rPr lang="en-US" sz="4400" dirty="0"/>
                <a:t> with</a:t>
              </a:r>
              <a:endParaRPr lang="en-GB" sz="4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C7368C8-B579-F249-2F58-AB3B9EC7F68E}"/>
              </a:ext>
            </a:extLst>
          </p:cNvPr>
          <p:cNvSpPr txBox="1"/>
          <p:nvPr/>
        </p:nvSpPr>
        <p:spPr>
          <a:xfrm>
            <a:off x="3611724" y="4024448"/>
            <a:ext cx="49685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Timo Diepers, Amelie Müller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61F6C4-5740-4F09-0207-DF6F3E427824}"/>
              </a:ext>
            </a:extLst>
          </p:cNvPr>
          <p:cNvGrpSpPr/>
          <p:nvPr/>
        </p:nvGrpSpPr>
        <p:grpSpPr>
          <a:xfrm>
            <a:off x="685935" y="5237192"/>
            <a:ext cx="10747924" cy="880019"/>
            <a:chOff x="503658" y="5321409"/>
            <a:chExt cx="10747924" cy="8800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83BDC14-1FB0-C39A-62EA-C0D5C246D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9014" y="5455850"/>
              <a:ext cx="1677852" cy="58827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5189038-A2B2-2B1E-B702-6ED55602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1007" y="5456827"/>
              <a:ext cx="1501010" cy="6091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5338FA-31D3-4656-FC73-978ABB9BD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3275" y="5434841"/>
              <a:ext cx="2071598" cy="64781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BE5709-7C28-23E2-30CC-5E589C80A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658" y="5387277"/>
              <a:ext cx="1213101" cy="7482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6364F03-8589-2349-7CE0-C0D0092F42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73000" y="5321409"/>
              <a:ext cx="880019" cy="880019"/>
            </a:xfrm>
            <a:prstGeom prst="rect">
              <a:avLst/>
            </a:prstGeom>
          </p:spPr>
        </p:pic>
        <p:pic>
          <p:nvPicPr>
            <p:cNvPr id="19" name="Picture 18" descr="A logo for a company&#10;&#10;AI-generated content may be incorrect.">
              <a:extLst>
                <a:ext uri="{FF2B5EF4-FFF2-40B4-BE49-F238E27FC236}">
                  <a16:creationId xmlns:a16="http://schemas.microsoft.com/office/drawing/2014/main" id="{7DE4F158-D206-754C-DB4A-2C0EED3D4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0645" y="5485802"/>
              <a:ext cx="1900937" cy="545895"/>
            </a:xfrm>
            <a:prstGeom prst="rect">
              <a:avLst/>
            </a:prstGeom>
          </p:spPr>
        </p:pic>
      </p:grp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30A02E21-8D56-1FD8-1D5D-F2043C5A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4207" y="6117211"/>
            <a:ext cx="1620837" cy="144016"/>
          </a:xfrm>
        </p:spPr>
        <p:txBody>
          <a:bodyPr/>
          <a:lstStyle/>
          <a:p>
            <a:r>
              <a:rPr lang="en-BE"/>
              <a:t>22/09/2026</a:t>
            </a:r>
            <a:endParaRPr lang="en-GB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CA24E-2C09-5299-1928-BFB87AD07236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C8096B-7B3D-7B04-4D7A-C9EE225F2A1C}"/>
              </a:ext>
            </a:extLst>
          </p:cNvPr>
          <p:cNvSpPr/>
          <p:nvPr/>
        </p:nvSpPr>
        <p:spPr>
          <a:xfrm>
            <a:off x="0" y="6659840"/>
            <a:ext cx="1856232" cy="198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C9551-B416-899B-6373-424A971A0DB3}"/>
              </a:ext>
            </a:extLst>
          </p:cNvPr>
          <p:cNvSpPr txBox="1"/>
          <p:nvPr/>
        </p:nvSpPr>
        <p:spPr>
          <a:xfrm>
            <a:off x="504000" y="6346093"/>
            <a:ext cx="1144930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This work received funding from the European Union’s Horizon Europe Research and Innovation </a:t>
            </a:r>
            <a:r>
              <a:rPr lang="en-US" sz="1100" dirty="0" err="1"/>
              <a:t>Programme</a:t>
            </a:r>
            <a:r>
              <a:rPr lang="en-US" sz="1100" dirty="0"/>
              <a:t> ForestPaths (101056755) and United Kingdom Research and Innovation Council (UKRI) (10040816), as well as</a:t>
            </a:r>
            <a:r>
              <a:rPr lang="de-DE" sz="1100" dirty="0"/>
              <a:t> from the Eidgenössische Technische Hochschule </a:t>
            </a:r>
            <a:r>
              <a:rPr lang="en-US" sz="1100" dirty="0"/>
              <a:t>(ETH) Board in the framework of the Joint Initiative Swiss Center of </a:t>
            </a:r>
            <a:r>
              <a:rPr lang="fr-FR" sz="1100" dirty="0"/>
              <a:t>Excellence on Net </a:t>
            </a:r>
            <a:r>
              <a:rPr lang="fr-FR" sz="1100" dirty="0" err="1"/>
              <a:t>Zero</a:t>
            </a:r>
            <a:r>
              <a:rPr lang="fr-FR" sz="1100" dirty="0"/>
              <a:t> Emissions (SCENE).</a:t>
            </a:r>
            <a:endParaRPr lang="en-BE" sz="12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AF46D78-3857-BAE9-5E70-0835663B0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564" y="-32548"/>
            <a:ext cx="3926708" cy="183024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83AD15-6280-0D68-74D4-D3FA72F0A560}"/>
              </a:ext>
            </a:extLst>
          </p:cNvPr>
          <p:cNvSpPr txBox="1"/>
          <p:nvPr/>
        </p:nvSpPr>
        <p:spPr>
          <a:xfrm>
            <a:off x="6512837" y="291051"/>
            <a:ext cx="523951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3600" dirty="0" err="1">
                <a:solidFill>
                  <a:srgbClr val="2D4635"/>
                </a:solidFill>
              </a:rPr>
              <a:t>BrightCon</a:t>
            </a:r>
            <a:r>
              <a:rPr lang="en-US" sz="3600" dirty="0">
                <a:solidFill>
                  <a:srgbClr val="2D4635"/>
                </a:solidFill>
              </a:rPr>
              <a:t> 2026 </a:t>
            </a:r>
          </a:p>
          <a:p>
            <a:pPr algn="r"/>
            <a:r>
              <a:rPr lang="en-US" sz="3600" dirty="0">
                <a:solidFill>
                  <a:srgbClr val="2D4635"/>
                </a:solidFill>
              </a:rPr>
              <a:t> Intermediate course day</a:t>
            </a:r>
            <a:endParaRPr lang="en-BE" sz="3600" dirty="0">
              <a:solidFill>
                <a:srgbClr val="2D46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9740-D35A-C006-C130-48D758B3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0853-0BCF-EFC5-31D2-E77AD3DF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day schedule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F335A-4615-98DD-DF35-33CFA86EE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B1C1-C43D-312D-D08E-AEB09537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err="1"/>
              <a:t>BrightCon</a:t>
            </a:r>
            <a:r>
              <a:rPr lang="en-US" noProof="0" dirty="0"/>
              <a:t> 2026 - Intermediate course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9CFBF-8B9F-7D95-78A2-4152EEC2F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65BA1-FCE7-068A-45F4-0EB2DCDDD3CD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EE26D-0B62-9459-2095-F8A59C82D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9454"/>
          <a:stretch>
            <a:fillRect/>
          </a:stretch>
        </p:blipFill>
        <p:spPr>
          <a:xfrm>
            <a:off x="541671" y="757014"/>
            <a:ext cx="7105219" cy="17575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8443EA6-C9A7-2BCC-1822-EF8F9C1EA9A0}"/>
              </a:ext>
            </a:extLst>
          </p:cNvPr>
          <p:cNvSpPr txBox="1">
            <a:spLocks/>
          </p:cNvSpPr>
          <p:nvPr/>
        </p:nvSpPr>
        <p:spPr>
          <a:xfrm>
            <a:off x="695325" y="2936212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Morning block schedule</a:t>
            </a:r>
            <a:endParaRPr lang="en-BE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D8703B-4070-4633-F539-0F20B6BE1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989206"/>
              </p:ext>
            </p:extLst>
          </p:nvPr>
        </p:nvGraphicFramePr>
        <p:xfrm>
          <a:off x="636460" y="3429000"/>
          <a:ext cx="6788468" cy="2203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972">
                  <a:extLst>
                    <a:ext uri="{9D8B030D-6E8A-4147-A177-3AD203B41FA5}">
                      <a16:colId xmlns:a16="http://schemas.microsoft.com/office/drawing/2014/main" val="3890443193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3336865323"/>
                    </a:ext>
                  </a:extLst>
                </a:gridCol>
              </a:tblGrid>
              <a:tr h="314815">
                <a:tc>
                  <a:txBody>
                    <a:bodyPr/>
                    <a:lstStyle/>
                    <a:p>
                      <a:r>
                        <a:rPr lang="en-US" sz="1200" b="1" dirty="0"/>
                        <a:t>Time</a:t>
                      </a:r>
                      <a:endParaRPr lang="en-BE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Activity</a:t>
                      </a:r>
                      <a:endParaRPr lang="en-BE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494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09:00 – 09:15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Welcome and short introduction round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5708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09:15 – 09:30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Time-explicit LCA in a nutshell + walkthrough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719487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09:30 – 10:30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time-explicit case study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6932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10:30 – 10:50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 Break --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8279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10:50 – 11:40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dynamic impact assessment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91278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11:40 – 12:00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Discussion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9625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7A0238C-CC98-616B-42D4-DB12A25101D2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44969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778FF-DB8E-CEEC-1AFA-A0200281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26D9C-733C-44FE-6D48-BBB236DC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0CA5E-6D5C-D646-1419-88A74E7D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</a:t>
            </a:fld>
            <a:endParaRPr lang="en-GB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403AB7-FC2A-D05E-E9F2-D4CBAF94E6E3}"/>
              </a:ext>
            </a:extLst>
          </p:cNvPr>
          <p:cNvGrpSpPr/>
          <p:nvPr/>
        </p:nvGrpSpPr>
        <p:grpSpPr>
          <a:xfrm>
            <a:off x="2642791" y="1337519"/>
            <a:ext cx="5778875" cy="4634779"/>
            <a:chOff x="5426846" y="1301463"/>
            <a:chExt cx="5778875" cy="4634779"/>
          </a:xfrm>
        </p:grpSpPr>
        <p:pic>
          <p:nvPicPr>
            <p:cNvPr id="12" name="Graphic 11" descr="Arrow circle outline">
              <a:extLst>
                <a:ext uri="{FF2B5EF4-FFF2-40B4-BE49-F238E27FC236}">
                  <a16:creationId xmlns:a16="http://schemas.microsoft.com/office/drawing/2014/main" id="{1F6CD3A0-70A2-62CC-B5A1-612CB71098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056" t="6363" r="18993" b="65383"/>
            <a:stretch/>
          </p:blipFill>
          <p:spPr>
            <a:xfrm>
              <a:off x="7264641" y="2322455"/>
              <a:ext cx="2537783" cy="1237335"/>
            </a:xfrm>
            <a:prstGeom prst="rect">
              <a:avLst/>
            </a:prstGeom>
          </p:spPr>
        </p:pic>
        <p:pic>
          <p:nvPicPr>
            <p:cNvPr id="13" name="Graphic 12" descr="Arrow circle outline">
              <a:extLst>
                <a:ext uri="{FF2B5EF4-FFF2-40B4-BE49-F238E27FC236}">
                  <a16:creationId xmlns:a16="http://schemas.microsoft.com/office/drawing/2014/main" id="{4E995251-B0D5-9AFD-63D9-63B3674A32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1293" t="35547" r="12838" b="11906"/>
            <a:stretch/>
          </p:blipFill>
          <p:spPr>
            <a:xfrm>
              <a:off x="8534008" y="3635052"/>
              <a:ext cx="1570813" cy="2301190"/>
            </a:xfrm>
            <a:prstGeom prst="rect">
              <a:avLst/>
            </a:prstGeom>
          </p:spPr>
        </p:pic>
        <p:pic>
          <p:nvPicPr>
            <p:cNvPr id="14" name="Graphic 13" descr="Arrow circle outline">
              <a:extLst>
                <a:ext uri="{FF2B5EF4-FFF2-40B4-BE49-F238E27FC236}">
                  <a16:creationId xmlns:a16="http://schemas.microsoft.com/office/drawing/2014/main" id="{31CED628-7C64-5131-7A5E-CE18D493F4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0169" t="35547" r="49151" b="11906"/>
            <a:stretch/>
          </p:blipFill>
          <p:spPr>
            <a:xfrm>
              <a:off x="6809476" y="3635052"/>
              <a:ext cx="1781520" cy="2301190"/>
            </a:xfrm>
            <a:prstGeom prst="rect">
              <a:avLst/>
            </a:prstGeom>
          </p:spPr>
        </p:pic>
        <p:pic>
          <p:nvPicPr>
            <p:cNvPr id="15" name="Graphic 14" descr="Electric car with solid fill">
              <a:extLst>
                <a:ext uri="{FF2B5EF4-FFF2-40B4-BE49-F238E27FC236}">
                  <a16:creationId xmlns:a16="http://schemas.microsoft.com/office/drawing/2014/main" id="{91F18E1C-899B-5DA3-A62D-A065E0C75E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08098" y="3420775"/>
              <a:ext cx="1565796" cy="1565792"/>
            </a:xfrm>
            <a:prstGeom prst="rect">
              <a:avLst/>
            </a:prstGeom>
          </p:spPr>
        </p:pic>
        <p:pic>
          <p:nvPicPr>
            <p:cNvPr id="16" name="Graphic 15" descr="Rubbish with solid fill">
              <a:extLst>
                <a:ext uri="{FF2B5EF4-FFF2-40B4-BE49-F238E27FC236}">
                  <a16:creationId xmlns:a16="http://schemas.microsoft.com/office/drawing/2014/main" id="{29900018-A872-E84D-1720-449B013DAF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50293" y="4302901"/>
              <a:ext cx="988883" cy="988883"/>
            </a:xfrm>
            <a:prstGeom prst="rect">
              <a:avLst/>
            </a:prstGeom>
          </p:spPr>
        </p:pic>
        <p:pic>
          <p:nvPicPr>
            <p:cNvPr id="17" name="Graphic 16" descr="Robot Hand with solid fill">
              <a:extLst>
                <a:ext uri="{FF2B5EF4-FFF2-40B4-BE49-F238E27FC236}">
                  <a16:creationId xmlns:a16="http://schemas.microsoft.com/office/drawing/2014/main" id="{E75A8C5C-7354-AB11-5322-E33B9B51F7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519" y="4155562"/>
              <a:ext cx="1251081" cy="125107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3C8981-2FE0-23BC-2FA0-E8D70DEEA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41573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4F956D-FF6E-2CB8-7BAE-CAA33A8196D4}"/>
                </a:ext>
              </a:extLst>
            </p:cNvPr>
            <p:cNvGrpSpPr/>
            <p:nvPr/>
          </p:nvGrpSpPr>
          <p:grpSpPr>
            <a:xfrm>
              <a:off x="7946809" y="1301463"/>
              <a:ext cx="1090369" cy="1090369"/>
              <a:chOff x="5612672" y="2701719"/>
              <a:chExt cx="504826" cy="504826"/>
            </a:xfrm>
          </p:grpSpPr>
          <p:pic>
            <p:nvPicPr>
              <p:cNvPr id="23" name="Graphic 22" descr="Power Plant with solid fill">
                <a:extLst>
                  <a:ext uri="{FF2B5EF4-FFF2-40B4-BE49-F238E27FC236}">
                    <a16:creationId xmlns:a16="http://schemas.microsoft.com/office/drawing/2014/main" id="{65D8BE5C-2553-0641-5F37-1F6C9B9DE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2672" y="2701719"/>
                <a:ext cx="504826" cy="504826"/>
              </a:xfrm>
              <a:prstGeom prst="rect">
                <a:avLst/>
              </a:prstGeom>
            </p:spPr>
          </p:pic>
          <p:pic>
            <p:nvPicPr>
              <p:cNvPr id="24" name="Graphic 23" descr="Lightning bolt with solid fill">
                <a:extLst>
                  <a:ext uri="{FF2B5EF4-FFF2-40B4-BE49-F238E27FC236}">
                    <a16:creationId xmlns:a16="http://schemas.microsoft.com/office/drawing/2014/main" id="{329B8A27-5A98-4B20-B17B-E848495899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48798" y="2931846"/>
                <a:ext cx="232573" cy="232573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342231-9DCE-4EBF-1CCF-D3B4794FA078}"/>
                </a:ext>
              </a:extLst>
            </p:cNvPr>
            <p:cNvSpPr txBox="1"/>
            <p:nvPr/>
          </p:nvSpPr>
          <p:spPr>
            <a:xfrm>
              <a:off x="5426846" y="5270803"/>
              <a:ext cx="18453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D1D987-1159-7910-F471-CD17AEAEB772}"/>
                </a:ext>
              </a:extLst>
            </p:cNvPr>
            <p:cNvSpPr txBox="1"/>
            <p:nvPr/>
          </p:nvSpPr>
          <p:spPr>
            <a:xfrm>
              <a:off x="8151196" y="2331001"/>
              <a:ext cx="681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2400"/>
                <a:t>use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9EDCB9-E1BB-4D8A-A6D7-3A28BFF1D7C2}"/>
                </a:ext>
              </a:extLst>
            </p:cNvPr>
            <p:cNvSpPr txBox="1"/>
            <p:nvPr/>
          </p:nvSpPr>
          <p:spPr>
            <a:xfrm>
              <a:off x="9685753" y="5266617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</p:txBody>
        </p:sp>
      </p:grpSp>
      <p:sp>
        <p:nvSpPr>
          <p:cNvPr id="2" name="Title 5">
            <a:extLst>
              <a:ext uri="{FF2B5EF4-FFF2-40B4-BE49-F238E27FC236}">
                <a16:creationId xmlns:a16="http://schemas.microsoft.com/office/drawing/2014/main" id="{AEA61105-7C5D-791A-39D7-ECD3EBDFF7D3}"/>
              </a:ext>
            </a:extLst>
          </p:cNvPr>
          <p:cNvSpPr txBox="1">
            <a:spLocks/>
          </p:cNvSpPr>
          <p:nvPr/>
        </p:nvSpPr>
        <p:spPr>
          <a:xfrm>
            <a:off x="847725" y="430696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Life cycle of an electric vehicle</a:t>
            </a:r>
            <a:endParaRPr lang="en-GB" b="0" i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BDE4F-D3FE-1752-8132-8FF03A85E592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D4842-52FC-497E-D75C-2911B37427F6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257045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2B7FC-3C20-0BA9-B377-F57F2F95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D1ECA-5CC9-F725-04D2-1CD86E17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8C2153-1630-5DE1-B4DA-24A85AF2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‘Conventional’ LCA: </a:t>
            </a:r>
            <a:r>
              <a:rPr lang="en-GB" b="0" i="1"/>
              <a:t>“system today”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61719-BD32-A3ED-6F45-BF2814DF53B0}"/>
              </a:ext>
            </a:extLst>
          </p:cNvPr>
          <p:cNvSpPr/>
          <p:nvPr/>
        </p:nvSpPr>
        <p:spPr>
          <a:xfrm>
            <a:off x="928344" y="5244327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7F6DC5-2ABA-22C7-3633-2A68ED459572}"/>
              </a:ext>
            </a:extLst>
          </p:cNvPr>
          <p:cNvCxnSpPr>
            <a:cxnSpLocks/>
          </p:cNvCxnSpPr>
          <p:nvPr/>
        </p:nvCxnSpPr>
        <p:spPr>
          <a:xfrm>
            <a:off x="690668" y="6085449"/>
            <a:ext cx="886341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BCBD95-ADA8-231D-CC13-69FCF8A51400}"/>
              </a:ext>
            </a:extLst>
          </p:cNvPr>
          <p:cNvCxnSpPr>
            <a:cxnSpLocks/>
          </p:cNvCxnSpPr>
          <p:nvPr/>
        </p:nvCxnSpPr>
        <p:spPr>
          <a:xfrm flipV="1">
            <a:off x="690668" y="2454298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25">
            <a:extLst>
              <a:ext uri="{FF2B5EF4-FFF2-40B4-BE49-F238E27FC236}">
                <a16:creationId xmlns:a16="http://schemas.microsoft.com/office/drawing/2014/main" id="{ABC40076-1915-0C97-40D1-C35D6DCE35EC}"/>
              </a:ext>
            </a:extLst>
          </p:cNvPr>
          <p:cNvSpPr/>
          <p:nvPr/>
        </p:nvSpPr>
        <p:spPr>
          <a:xfrm>
            <a:off x="973753" y="1492035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2" name="Freeform 26">
            <a:extLst>
              <a:ext uri="{FF2B5EF4-FFF2-40B4-BE49-F238E27FC236}">
                <a16:creationId xmlns:a16="http://schemas.microsoft.com/office/drawing/2014/main" id="{8C6F78B0-5998-A1A2-EA80-C3F99C7A7A4E}"/>
              </a:ext>
            </a:extLst>
          </p:cNvPr>
          <p:cNvSpPr/>
          <p:nvPr/>
        </p:nvSpPr>
        <p:spPr>
          <a:xfrm>
            <a:off x="973753" y="1548826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3" name="Freeform 27">
            <a:extLst>
              <a:ext uri="{FF2B5EF4-FFF2-40B4-BE49-F238E27FC236}">
                <a16:creationId xmlns:a16="http://schemas.microsoft.com/office/drawing/2014/main" id="{DE96B679-2D2F-C283-46C4-CD870E8728F1}"/>
              </a:ext>
            </a:extLst>
          </p:cNvPr>
          <p:cNvSpPr/>
          <p:nvPr/>
        </p:nvSpPr>
        <p:spPr>
          <a:xfrm>
            <a:off x="973753" y="164346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4" name="Freeform 28">
            <a:extLst>
              <a:ext uri="{FF2B5EF4-FFF2-40B4-BE49-F238E27FC236}">
                <a16:creationId xmlns:a16="http://schemas.microsoft.com/office/drawing/2014/main" id="{AC248D8B-B2B0-48DD-C3D0-3A1DD91356F3}"/>
              </a:ext>
            </a:extLst>
          </p:cNvPr>
          <p:cNvSpPr/>
          <p:nvPr/>
        </p:nvSpPr>
        <p:spPr>
          <a:xfrm>
            <a:off x="973753" y="1738107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60BE7B-D81C-CCC2-7019-CB0D4A44AA82}"/>
              </a:ext>
            </a:extLst>
          </p:cNvPr>
          <p:cNvSpPr txBox="1"/>
          <p:nvPr/>
        </p:nvSpPr>
        <p:spPr>
          <a:xfrm>
            <a:off x="808554" y="1863612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19913-B649-8C8A-F509-89760077DBCF}"/>
              </a:ext>
            </a:extLst>
          </p:cNvPr>
          <p:cNvSpPr txBox="1"/>
          <p:nvPr/>
        </p:nvSpPr>
        <p:spPr>
          <a:xfrm>
            <a:off x="888609" y="1166035"/>
            <a:ext cx="94155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database:</a:t>
            </a:r>
            <a:endParaRPr lang="en-DE" sz="1430" i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3DFC5-92B5-76D3-FC70-0B66D1CF8AB8}"/>
              </a:ext>
            </a:extLst>
          </p:cNvPr>
          <p:cNvSpPr/>
          <p:nvPr/>
        </p:nvSpPr>
        <p:spPr>
          <a:xfrm>
            <a:off x="928344" y="3343557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2017D-4525-F1E9-8136-8D20EC52F660}"/>
              </a:ext>
            </a:extLst>
          </p:cNvPr>
          <p:cNvSpPr/>
          <p:nvPr/>
        </p:nvSpPr>
        <p:spPr>
          <a:xfrm>
            <a:off x="928344" y="2883097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0185D-3A5A-7B71-86D4-C4F0E14CBFD0}"/>
              </a:ext>
            </a:extLst>
          </p:cNvPr>
          <p:cNvSpPr txBox="1"/>
          <p:nvPr/>
        </p:nvSpPr>
        <p:spPr>
          <a:xfrm>
            <a:off x="1069392" y="2202781"/>
            <a:ext cx="1249138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Conventional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7E6AA1-4B7D-2438-BBE6-E05452C02B2F}"/>
              </a:ext>
            </a:extLst>
          </p:cNvPr>
          <p:cNvGrpSpPr/>
          <p:nvPr/>
        </p:nvGrpSpPr>
        <p:grpSpPr>
          <a:xfrm>
            <a:off x="5426846" y="1304954"/>
            <a:ext cx="5778875" cy="4860350"/>
            <a:chOff x="5426846" y="1151154"/>
            <a:chExt cx="5778875" cy="486035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812C37C-0680-F616-3317-FA5933BC04E7}"/>
                </a:ext>
              </a:extLst>
            </p:cNvPr>
            <p:cNvGrpSpPr/>
            <p:nvPr/>
          </p:nvGrpSpPr>
          <p:grpSpPr>
            <a:xfrm>
              <a:off x="5426846" y="1151154"/>
              <a:ext cx="5778875" cy="4785088"/>
              <a:chOff x="5426846" y="1151154"/>
              <a:chExt cx="5778875" cy="4785088"/>
            </a:xfrm>
          </p:grpSpPr>
          <p:pic>
            <p:nvPicPr>
              <p:cNvPr id="26" name="Graphic 25" descr="Arrow circle outline">
                <a:extLst>
                  <a:ext uri="{FF2B5EF4-FFF2-40B4-BE49-F238E27FC236}">
                    <a16:creationId xmlns:a16="http://schemas.microsoft.com/office/drawing/2014/main" id="{7E90B314-3C28-09D1-EA59-6F1A474D7E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23056" t="6363" r="18993" b="65383"/>
              <a:stretch/>
            </p:blipFill>
            <p:spPr>
              <a:xfrm>
                <a:off x="7264641" y="2322455"/>
                <a:ext cx="2537783" cy="1237335"/>
              </a:xfrm>
              <a:prstGeom prst="rect">
                <a:avLst/>
              </a:prstGeom>
            </p:spPr>
          </p:pic>
          <p:pic>
            <p:nvPicPr>
              <p:cNvPr id="27" name="Graphic 26" descr="Arrow circle outline">
                <a:extLst>
                  <a:ext uri="{FF2B5EF4-FFF2-40B4-BE49-F238E27FC236}">
                    <a16:creationId xmlns:a16="http://schemas.microsoft.com/office/drawing/2014/main" id="{5E7CA89E-7AE7-EE17-92D9-ECA5B38D89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51293" t="35547" r="12838" b="11906"/>
              <a:stretch/>
            </p:blipFill>
            <p:spPr>
              <a:xfrm>
                <a:off x="8534008" y="3635052"/>
                <a:ext cx="1570813" cy="2301190"/>
              </a:xfrm>
              <a:prstGeom prst="rect">
                <a:avLst/>
              </a:prstGeom>
            </p:spPr>
          </p:pic>
          <p:pic>
            <p:nvPicPr>
              <p:cNvPr id="28" name="Graphic 27" descr="Arrow circle outline">
                <a:extLst>
                  <a:ext uri="{FF2B5EF4-FFF2-40B4-BE49-F238E27FC236}">
                    <a16:creationId xmlns:a16="http://schemas.microsoft.com/office/drawing/2014/main" id="{656EFEA2-998F-19D0-D847-DE4363960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10169" t="35547" r="49151" b="11906"/>
              <a:stretch/>
            </p:blipFill>
            <p:spPr>
              <a:xfrm>
                <a:off x="6809476" y="3635052"/>
                <a:ext cx="1781520" cy="2301190"/>
              </a:xfrm>
              <a:prstGeom prst="rect">
                <a:avLst/>
              </a:prstGeom>
            </p:spPr>
          </p:pic>
          <p:pic>
            <p:nvPicPr>
              <p:cNvPr id="29" name="Graphic 28" descr="Electric car with solid fill">
                <a:extLst>
                  <a:ext uri="{FF2B5EF4-FFF2-40B4-BE49-F238E27FC236}">
                    <a16:creationId xmlns:a16="http://schemas.microsoft.com/office/drawing/2014/main" id="{FBB134C5-CE98-58C2-8915-00FAC2834A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08098" y="3420775"/>
                <a:ext cx="1565796" cy="1565792"/>
              </a:xfrm>
              <a:prstGeom prst="rect">
                <a:avLst/>
              </a:prstGeom>
            </p:spPr>
          </p:pic>
          <p:pic>
            <p:nvPicPr>
              <p:cNvPr id="30" name="Graphic 29" descr="Rubbish with solid fill">
                <a:extLst>
                  <a:ext uri="{FF2B5EF4-FFF2-40B4-BE49-F238E27FC236}">
                    <a16:creationId xmlns:a16="http://schemas.microsoft.com/office/drawing/2014/main" id="{C7E76A10-40D2-DA49-79BF-3A0AD5774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950293" y="4302901"/>
                <a:ext cx="988883" cy="988883"/>
              </a:xfrm>
              <a:prstGeom prst="rect">
                <a:avLst/>
              </a:prstGeom>
            </p:spPr>
          </p:pic>
          <p:pic>
            <p:nvPicPr>
              <p:cNvPr id="31" name="Graphic 30" descr="Robot Hand with solid fill">
                <a:extLst>
                  <a:ext uri="{FF2B5EF4-FFF2-40B4-BE49-F238E27FC236}">
                    <a16:creationId xmlns:a16="http://schemas.microsoft.com/office/drawing/2014/main" id="{BF7E6E12-B0F3-4536-EFEB-F5BC8F6FF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021519" y="4155562"/>
                <a:ext cx="1251081" cy="1251077"/>
              </a:xfrm>
              <a:prstGeom prst="rect">
                <a:avLst/>
              </a:prstGeom>
            </p:spPr>
          </p:pic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5AC5B4-A652-D01F-AAEC-5DD461EEEA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91995" y="5341573"/>
                <a:ext cx="0" cy="320639"/>
              </a:xfrm>
              <a:prstGeom prst="line">
                <a:avLst/>
              </a:prstGeom>
              <a:ln w="63500" cap="rnd">
                <a:solidFill>
                  <a:srgbClr val="58AB2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FADD478-3DBE-1D51-795E-070E684AE9BA}"/>
                  </a:ext>
                </a:extLst>
              </p:cNvPr>
              <p:cNvGrpSpPr/>
              <p:nvPr/>
            </p:nvGrpSpPr>
            <p:grpSpPr>
              <a:xfrm>
                <a:off x="7924931" y="1151154"/>
                <a:ext cx="1090369" cy="1090369"/>
                <a:chOff x="5602543" y="2632128"/>
                <a:chExt cx="504826" cy="504826"/>
              </a:xfrm>
            </p:grpSpPr>
            <p:pic>
              <p:nvPicPr>
                <p:cNvPr id="37" name="Graphic 36" descr="Power Plant with solid fill">
                  <a:extLst>
                    <a:ext uri="{FF2B5EF4-FFF2-40B4-BE49-F238E27FC236}">
                      <a16:creationId xmlns:a16="http://schemas.microsoft.com/office/drawing/2014/main" id="{71F0C64D-C0D0-CB29-B342-237EA84A4F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02543" y="2632128"/>
                  <a:ext cx="504826" cy="504826"/>
                </a:xfrm>
                <a:prstGeom prst="rect">
                  <a:avLst/>
                </a:prstGeom>
              </p:spPr>
            </p:pic>
            <p:pic>
              <p:nvPicPr>
                <p:cNvPr id="38" name="Graphic 37" descr="Lightning bolt with solid fill">
                  <a:extLst>
                    <a:ext uri="{FF2B5EF4-FFF2-40B4-BE49-F238E27FC236}">
                      <a16:creationId xmlns:a16="http://schemas.microsoft.com/office/drawing/2014/main" id="{933B78A9-B7CE-7438-2606-086E992D32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8799" y="2865633"/>
                  <a:ext cx="232573" cy="232573"/>
                </a:xfrm>
                <a:prstGeom prst="rect">
                  <a:avLst/>
                </a:prstGeom>
              </p:spPr>
            </p:pic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EFD303-CF8F-A811-604D-191777EEFEAD}"/>
                  </a:ext>
                </a:extLst>
              </p:cNvPr>
              <p:cNvSpPr txBox="1"/>
              <p:nvPr/>
            </p:nvSpPr>
            <p:spPr>
              <a:xfrm>
                <a:off x="5426846" y="5270803"/>
                <a:ext cx="18453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sz="2400"/>
                  <a:t>construction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E5DE23-B007-D0FC-E301-107882BEBF27}"/>
                  </a:ext>
                </a:extLst>
              </p:cNvPr>
              <p:cNvSpPr txBox="1"/>
              <p:nvPr/>
            </p:nvSpPr>
            <p:spPr>
              <a:xfrm>
                <a:off x="8170207" y="2137416"/>
                <a:ext cx="6815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DE" sz="2400"/>
                  <a:t>use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2A2BB4-75C0-C0CF-8D2B-43B9EAEC1B45}"/>
                  </a:ext>
                </a:extLst>
              </p:cNvPr>
              <p:cNvSpPr txBox="1"/>
              <p:nvPr/>
            </p:nvSpPr>
            <p:spPr>
              <a:xfrm>
                <a:off x="9685753" y="5266617"/>
                <a:ext cx="15199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sz="2400"/>
                  <a:t>end of life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131DF0-08FC-DAE8-EDE7-841966A27332}"/>
                </a:ext>
              </a:extLst>
            </p:cNvPr>
            <p:cNvSpPr txBox="1"/>
            <p:nvPr/>
          </p:nvSpPr>
          <p:spPr>
            <a:xfrm>
              <a:off x="5855368" y="5549839"/>
              <a:ext cx="1002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58AB27"/>
                  </a:solidFill>
                </a:rPr>
                <a:t>2020</a:t>
              </a:r>
              <a:endParaRPr lang="en-DE" sz="2400" b="1">
                <a:solidFill>
                  <a:srgbClr val="58AB27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92A0A1-6A3E-125B-2A15-3D87BB3FB5CF}"/>
                </a:ext>
              </a:extLst>
            </p:cNvPr>
            <p:cNvSpPr txBox="1"/>
            <p:nvPr/>
          </p:nvSpPr>
          <p:spPr>
            <a:xfrm>
              <a:off x="10004078" y="5534855"/>
              <a:ext cx="1002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7A6FAC"/>
                  </a:solidFill>
                </a:rPr>
                <a:t>2020</a:t>
              </a:r>
              <a:endParaRPr lang="en-DE" sz="2400" b="1">
                <a:solidFill>
                  <a:srgbClr val="7A6FAC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2EAEF-C357-42B6-F5D1-96BB603E54EF}"/>
                </a:ext>
              </a:extLst>
            </p:cNvPr>
            <p:cNvSpPr txBox="1"/>
            <p:nvPr/>
          </p:nvSpPr>
          <p:spPr>
            <a:xfrm>
              <a:off x="8016870" y="2484336"/>
              <a:ext cx="1002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6A800"/>
                  </a:solidFill>
                </a:rPr>
                <a:t>2020</a:t>
              </a:r>
              <a:endParaRPr lang="en-DE" sz="2400" b="1">
                <a:solidFill>
                  <a:srgbClr val="F6A800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E63DDA6-31A1-F072-7583-E31FF5E600B1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40C858B-20E7-CD4D-64CD-2B0F79F0D450}"/>
              </a:ext>
            </a:extLst>
          </p:cNvPr>
          <p:cNvCxnSpPr>
            <a:cxnSpLocks/>
          </p:cNvCxnSpPr>
          <p:nvPr/>
        </p:nvCxnSpPr>
        <p:spPr>
          <a:xfrm>
            <a:off x="1079757" y="2168373"/>
            <a:ext cx="0" cy="612555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5955E6E-2AEB-6ECD-29AD-AA0B4103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330AE-2C15-AA89-7CC1-FE46BE100DC6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FF5F00-25E1-5A3C-82FC-A8C2BC79D294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98762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743AF-3E30-EF79-F99A-5AC3F676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997D5-98DD-8660-3E61-6A443B79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4C948E-D89B-9AFA-C33A-1667589A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Temporal Evolution: </a:t>
            </a:r>
            <a:r>
              <a:rPr lang="en-GB" b="0" i="1"/>
              <a:t>“prospective state of the system”</a:t>
            </a:r>
            <a:endParaRPr lang="en-GB" i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2DE1FD-94E8-48BE-25C1-6A75CA0B0E2E}"/>
              </a:ext>
            </a:extLst>
          </p:cNvPr>
          <p:cNvCxnSpPr>
            <a:cxnSpLocks/>
          </p:cNvCxnSpPr>
          <p:nvPr/>
        </p:nvCxnSpPr>
        <p:spPr>
          <a:xfrm>
            <a:off x="1315236" y="2631037"/>
            <a:ext cx="2003608" cy="1611556"/>
          </a:xfrm>
          <a:prstGeom prst="line">
            <a:avLst/>
          </a:prstGeom>
          <a:ln w="12383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E7DBD9-4F9D-5751-0E3A-F939D0513A2B}"/>
              </a:ext>
            </a:extLst>
          </p:cNvPr>
          <p:cNvCxnSpPr>
            <a:cxnSpLocks/>
          </p:cNvCxnSpPr>
          <p:nvPr/>
        </p:nvCxnSpPr>
        <p:spPr>
          <a:xfrm>
            <a:off x="1313587" y="3092962"/>
            <a:ext cx="2005257" cy="1453592"/>
          </a:xfrm>
          <a:prstGeom prst="line">
            <a:avLst/>
          </a:prstGeom>
          <a:ln w="12383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73E66-140F-F3E9-275B-1DBDC3AD55D7}"/>
              </a:ext>
            </a:extLst>
          </p:cNvPr>
          <p:cNvCxnSpPr>
            <a:cxnSpLocks/>
          </p:cNvCxnSpPr>
          <p:nvPr/>
        </p:nvCxnSpPr>
        <p:spPr>
          <a:xfrm>
            <a:off x="1305874" y="4983851"/>
            <a:ext cx="1996386" cy="352217"/>
          </a:xfrm>
          <a:prstGeom prst="line">
            <a:avLst/>
          </a:prstGeom>
          <a:ln w="12383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200619-2245-A8A8-4B16-79740D0BF8AA}"/>
              </a:ext>
            </a:extLst>
          </p:cNvPr>
          <p:cNvCxnSpPr>
            <a:cxnSpLocks/>
          </p:cNvCxnSpPr>
          <p:nvPr/>
        </p:nvCxnSpPr>
        <p:spPr>
          <a:xfrm>
            <a:off x="1117109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67EB2B-66C1-823B-FEB2-F0E06668F77D}"/>
              </a:ext>
            </a:extLst>
          </p:cNvPr>
          <p:cNvCxnSpPr>
            <a:cxnSpLocks/>
          </p:cNvCxnSpPr>
          <p:nvPr/>
        </p:nvCxnSpPr>
        <p:spPr>
          <a:xfrm>
            <a:off x="351067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52C42-FD35-F5F3-2410-E517D5D47FCA}"/>
              </a:ext>
            </a:extLst>
          </p:cNvPr>
          <p:cNvSpPr/>
          <p:nvPr/>
        </p:nvSpPr>
        <p:spPr>
          <a:xfrm>
            <a:off x="928344" y="4979870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27224-B738-9203-9DA8-ACC2C662E3B8}"/>
              </a:ext>
            </a:extLst>
          </p:cNvPr>
          <p:cNvSpPr/>
          <p:nvPr/>
        </p:nvSpPr>
        <p:spPr>
          <a:xfrm>
            <a:off x="3321912" y="5338328"/>
            <a:ext cx="377530" cy="480436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AD78CF-E77C-8863-906E-B7AEA08060AC}"/>
              </a:ext>
            </a:extLst>
          </p:cNvPr>
          <p:cNvSpPr/>
          <p:nvPr/>
        </p:nvSpPr>
        <p:spPr>
          <a:xfrm>
            <a:off x="3321912" y="4549527"/>
            <a:ext cx="377530" cy="78880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GB" sz="910">
                <a:solidFill>
                  <a:schemeClr val="tx1"/>
                </a:solidFill>
              </a:rPr>
              <a:t>U</a:t>
            </a:r>
            <a:r>
              <a:rPr lang="en-DE" sz="910">
                <a:solidFill>
                  <a:schemeClr val="tx1"/>
                </a:solidFill>
              </a:rPr>
              <a:t>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3C8069-79DC-EFD4-339A-7EAB0906C61F}"/>
              </a:ext>
            </a:extLst>
          </p:cNvPr>
          <p:cNvSpPr/>
          <p:nvPr/>
        </p:nvSpPr>
        <p:spPr>
          <a:xfrm>
            <a:off x="3321912" y="4239666"/>
            <a:ext cx="377530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C33E81-F855-33F4-B2D4-FD7B5921C8F9}"/>
              </a:ext>
            </a:extLst>
          </p:cNvPr>
          <p:cNvCxnSpPr>
            <a:cxnSpLocks/>
          </p:cNvCxnSpPr>
          <p:nvPr/>
        </p:nvCxnSpPr>
        <p:spPr>
          <a:xfrm>
            <a:off x="690668" y="5820992"/>
            <a:ext cx="3260017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FC0A82-4D87-843A-571B-02732B0B1051}"/>
              </a:ext>
            </a:extLst>
          </p:cNvPr>
          <p:cNvCxnSpPr>
            <a:cxnSpLocks/>
          </p:cNvCxnSpPr>
          <p:nvPr/>
        </p:nvCxnSpPr>
        <p:spPr>
          <a:xfrm flipV="1">
            <a:off x="690668" y="2189841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1B392E-8373-7BCE-60C1-908C81117A46}"/>
              </a:ext>
            </a:extLst>
          </p:cNvPr>
          <p:cNvCxnSpPr>
            <a:cxnSpLocks/>
          </p:cNvCxnSpPr>
          <p:nvPr/>
        </p:nvCxnSpPr>
        <p:spPr>
          <a:xfrm>
            <a:off x="1713352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1C0DD0-F437-83D1-642F-D5687344DBF5}"/>
              </a:ext>
            </a:extLst>
          </p:cNvPr>
          <p:cNvCxnSpPr>
            <a:cxnSpLocks/>
          </p:cNvCxnSpPr>
          <p:nvPr/>
        </p:nvCxnSpPr>
        <p:spPr>
          <a:xfrm>
            <a:off x="2314658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A3E0C0-2A27-F8FA-65E6-20C30BD5B52C}"/>
              </a:ext>
            </a:extLst>
          </p:cNvPr>
          <p:cNvCxnSpPr>
            <a:cxnSpLocks/>
          </p:cNvCxnSpPr>
          <p:nvPr/>
        </p:nvCxnSpPr>
        <p:spPr>
          <a:xfrm>
            <a:off x="291266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098326B-0F9E-31EB-93E3-F70EF1D3F100}"/>
              </a:ext>
            </a:extLst>
          </p:cNvPr>
          <p:cNvSpPr txBox="1"/>
          <p:nvPr/>
        </p:nvSpPr>
        <p:spPr>
          <a:xfrm rot="18900000">
            <a:off x="723477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D348D4-3712-49EC-3E3A-729ADCC0BF7C}"/>
              </a:ext>
            </a:extLst>
          </p:cNvPr>
          <p:cNvSpPr txBox="1"/>
          <p:nvPr/>
        </p:nvSpPr>
        <p:spPr>
          <a:xfrm rot="18900000">
            <a:off x="1325001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7021D5-BCC7-EB31-1762-DC7F76F7B279}"/>
              </a:ext>
            </a:extLst>
          </p:cNvPr>
          <p:cNvSpPr txBox="1"/>
          <p:nvPr/>
        </p:nvSpPr>
        <p:spPr>
          <a:xfrm rot="18900000">
            <a:off x="1926525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B2303F-8078-FB18-47F4-BE662E448D01}"/>
              </a:ext>
            </a:extLst>
          </p:cNvPr>
          <p:cNvSpPr txBox="1"/>
          <p:nvPr/>
        </p:nvSpPr>
        <p:spPr>
          <a:xfrm rot="18900000">
            <a:off x="2528049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FB111-EB07-05A8-EDE3-93DD9BD6F38C}"/>
              </a:ext>
            </a:extLst>
          </p:cNvPr>
          <p:cNvSpPr txBox="1"/>
          <p:nvPr/>
        </p:nvSpPr>
        <p:spPr>
          <a:xfrm rot="18900000">
            <a:off x="3129573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2040</a:t>
            </a:r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47DD775F-04E7-C3BE-55D5-5BCB1D2109FC}"/>
              </a:ext>
            </a:extLst>
          </p:cNvPr>
          <p:cNvSpPr/>
          <p:nvPr/>
        </p:nvSpPr>
        <p:spPr>
          <a:xfrm>
            <a:off x="97375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D1DDA07-B530-18C6-0B80-11CB9F3E4F27}"/>
              </a:ext>
            </a:extLst>
          </p:cNvPr>
          <p:cNvSpPr/>
          <p:nvPr/>
        </p:nvSpPr>
        <p:spPr>
          <a:xfrm>
            <a:off x="97375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9B2A0D11-5DE8-849F-CA89-01AED3BF00EA}"/>
              </a:ext>
            </a:extLst>
          </p:cNvPr>
          <p:cNvSpPr/>
          <p:nvPr/>
        </p:nvSpPr>
        <p:spPr>
          <a:xfrm>
            <a:off x="97375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40A58F6F-D72E-C73D-5C66-FF20F40FF622}"/>
              </a:ext>
            </a:extLst>
          </p:cNvPr>
          <p:cNvSpPr/>
          <p:nvPr/>
        </p:nvSpPr>
        <p:spPr>
          <a:xfrm>
            <a:off x="97375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49606B1D-8109-8762-487C-C0942E87A2DC}"/>
              </a:ext>
            </a:extLst>
          </p:cNvPr>
          <p:cNvSpPr/>
          <p:nvPr/>
        </p:nvSpPr>
        <p:spPr>
          <a:xfrm>
            <a:off x="157369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632ABD52-64BE-C9A2-ED03-53D3C183F83A}"/>
              </a:ext>
            </a:extLst>
          </p:cNvPr>
          <p:cNvSpPr/>
          <p:nvPr/>
        </p:nvSpPr>
        <p:spPr>
          <a:xfrm>
            <a:off x="157369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A7391465-4E86-2D84-3E9B-45A27E2BC20E}"/>
              </a:ext>
            </a:extLst>
          </p:cNvPr>
          <p:cNvSpPr/>
          <p:nvPr/>
        </p:nvSpPr>
        <p:spPr>
          <a:xfrm>
            <a:off x="157369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ABE4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56B30CBB-1036-C8AF-BA0F-5B551D4AE295}"/>
              </a:ext>
            </a:extLst>
          </p:cNvPr>
          <p:cNvSpPr/>
          <p:nvPr/>
        </p:nvSpPr>
        <p:spPr>
          <a:xfrm>
            <a:off x="157369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8BA5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6" name="Freeform 33">
            <a:extLst>
              <a:ext uri="{FF2B5EF4-FFF2-40B4-BE49-F238E27FC236}">
                <a16:creationId xmlns:a16="http://schemas.microsoft.com/office/drawing/2014/main" id="{485588B0-D8B9-076C-9679-9FF887927E36}"/>
              </a:ext>
            </a:extLst>
          </p:cNvPr>
          <p:cNvSpPr/>
          <p:nvPr/>
        </p:nvSpPr>
        <p:spPr>
          <a:xfrm>
            <a:off x="217363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7" name="Freeform 34">
            <a:extLst>
              <a:ext uri="{FF2B5EF4-FFF2-40B4-BE49-F238E27FC236}">
                <a16:creationId xmlns:a16="http://schemas.microsoft.com/office/drawing/2014/main" id="{714BC0C7-4529-2B9B-0E6F-BF0D72E52B77}"/>
              </a:ext>
            </a:extLst>
          </p:cNvPr>
          <p:cNvSpPr/>
          <p:nvPr/>
        </p:nvSpPr>
        <p:spPr>
          <a:xfrm>
            <a:off x="217363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1C5BD6B0-2EDE-FAB9-2A34-0B88432B7C13}"/>
              </a:ext>
            </a:extLst>
          </p:cNvPr>
          <p:cNvSpPr/>
          <p:nvPr/>
        </p:nvSpPr>
        <p:spPr>
          <a:xfrm>
            <a:off x="217363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FC553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A6A562E7-598E-B06B-DC20-F04EE10C6072}"/>
              </a:ext>
            </a:extLst>
          </p:cNvPr>
          <p:cNvSpPr/>
          <p:nvPr/>
        </p:nvSpPr>
        <p:spPr>
          <a:xfrm>
            <a:off x="217363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DC05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589F2182-A569-7FB3-2E2E-7253D8A46210}"/>
              </a:ext>
            </a:extLst>
          </p:cNvPr>
          <p:cNvSpPr/>
          <p:nvPr/>
        </p:nvSpPr>
        <p:spPr>
          <a:xfrm>
            <a:off x="277357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7AA68EB4-08B9-8E40-2FE5-AD028C043C44}"/>
              </a:ext>
            </a:extLst>
          </p:cNvPr>
          <p:cNvSpPr/>
          <p:nvPr/>
        </p:nvSpPr>
        <p:spPr>
          <a:xfrm>
            <a:off x="277357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E2EAFDB6-4DCC-4AA5-51DB-BFA0BC74A7C7}"/>
              </a:ext>
            </a:extLst>
          </p:cNvPr>
          <p:cNvSpPr/>
          <p:nvPr/>
        </p:nvSpPr>
        <p:spPr>
          <a:xfrm>
            <a:off x="277357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4CC8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7D39BF1C-E839-9584-783B-8DFE8B0E9E98}"/>
              </a:ext>
            </a:extLst>
          </p:cNvPr>
          <p:cNvSpPr/>
          <p:nvPr/>
        </p:nvSpPr>
        <p:spPr>
          <a:xfrm>
            <a:off x="277357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A5CB8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C727D2C8-BA69-F4FA-340B-9A9357309D2A}"/>
              </a:ext>
            </a:extLst>
          </p:cNvPr>
          <p:cNvSpPr/>
          <p:nvPr/>
        </p:nvSpPr>
        <p:spPr>
          <a:xfrm>
            <a:off x="3373512" y="122883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>
              <a:solidFill>
                <a:srgbClr val="7A6FAC"/>
              </a:solidFill>
            </a:endParaRPr>
          </a:p>
        </p:txBody>
      </p:sp>
      <p:sp>
        <p:nvSpPr>
          <p:cNvPr id="45" name="Freeform 42">
            <a:extLst>
              <a:ext uri="{FF2B5EF4-FFF2-40B4-BE49-F238E27FC236}">
                <a16:creationId xmlns:a16="http://schemas.microsoft.com/office/drawing/2014/main" id="{C5C5EEFC-0757-8460-9083-EDCDA68AC82C}"/>
              </a:ext>
            </a:extLst>
          </p:cNvPr>
          <p:cNvSpPr/>
          <p:nvPr/>
        </p:nvSpPr>
        <p:spPr>
          <a:xfrm>
            <a:off x="3373512" y="1285615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>
              <a:solidFill>
                <a:srgbClr val="7A6FAC"/>
              </a:solidFill>
            </a:endParaRPr>
          </a:p>
        </p:txBody>
      </p:sp>
      <p:sp>
        <p:nvSpPr>
          <p:cNvPr id="46" name="Freeform 43">
            <a:extLst>
              <a:ext uri="{FF2B5EF4-FFF2-40B4-BE49-F238E27FC236}">
                <a16:creationId xmlns:a16="http://schemas.microsoft.com/office/drawing/2014/main" id="{F822895D-F475-9DB4-B2A8-D34993E55CC3}"/>
              </a:ext>
            </a:extLst>
          </p:cNvPr>
          <p:cNvSpPr/>
          <p:nvPr/>
        </p:nvSpPr>
        <p:spPr>
          <a:xfrm>
            <a:off x="3373512" y="1380252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7" name="Freeform 44">
            <a:extLst>
              <a:ext uri="{FF2B5EF4-FFF2-40B4-BE49-F238E27FC236}">
                <a16:creationId xmlns:a16="http://schemas.microsoft.com/office/drawing/2014/main" id="{6053501F-3839-01ED-934F-C1809D307135}"/>
              </a:ext>
            </a:extLst>
          </p:cNvPr>
          <p:cNvSpPr/>
          <p:nvPr/>
        </p:nvSpPr>
        <p:spPr>
          <a:xfrm>
            <a:off x="3373512" y="1474890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88AF4-4C37-9DE6-AB39-A4A514351075}"/>
              </a:ext>
            </a:extLst>
          </p:cNvPr>
          <p:cNvSpPr txBox="1"/>
          <p:nvPr/>
        </p:nvSpPr>
        <p:spPr>
          <a:xfrm>
            <a:off x="80855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B875E6-8238-4D53-A78B-8AAF946A2D52}"/>
              </a:ext>
            </a:extLst>
          </p:cNvPr>
          <p:cNvSpPr txBox="1"/>
          <p:nvPr/>
        </p:nvSpPr>
        <p:spPr>
          <a:xfrm>
            <a:off x="141513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2025</a:t>
            </a:r>
            <a:endParaRPr lang="en-DE" sz="143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3F9193-2093-0F88-3C7D-4E6ECB240290}"/>
              </a:ext>
            </a:extLst>
          </p:cNvPr>
          <p:cNvSpPr txBox="1"/>
          <p:nvPr/>
        </p:nvSpPr>
        <p:spPr>
          <a:xfrm>
            <a:off x="2021712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2030</a:t>
            </a:r>
            <a:endParaRPr lang="en-DE" sz="143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CD9455-8247-B0C4-D5AA-AB70FE545114}"/>
              </a:ext>
            </a:extLst>
          </p:cNvPr>
          <p:cNvSpPr txBox="1"/>
          <p:nvPr/>
        </p:nvSpPr>
        <p:spPr>
          <a:xfrm>
            <a:off x="2628291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2035</a:t>
            </a:r>
            <a:endParaRPr lang="en-DE" sz="1430" i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6419C9-9C22-1A03-CB38-CD796ADA3EDC}"/>
              </a:ext>
            </a:extLst>
          </p:cNvPr>
          <p:cNvSpPr txBox="1"/>
          <p:nvPr/>
        </p:nvSpPr>
        <p:spPr>
          <a:xfrm>
            <a:off x="3234870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2040</a:t>
            </a:r>
            <a:endParaRPr lang="en-DE" sz="143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71F417-8798-BD2F-77AB-8B183D5170A1}"/>
              </a:ext>
            </a:extLst>
          </p:cNvPr>
          <p:cNvSpPr txBox="1"/>
          <p:nvPr/>
        </p:nvSpPr>
        <p:spPr>
          <a:xfrm>
            <a:off x="888609" y="902812"/>
            <a:ext cx="694507" cy="185951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databases:</a:t>
            </a:r>
            <a:endParaRPr lang="en-DE" sz="1430" i="1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C98CBB-901D-B591-476B-8ED07B36C904}"/>
              </a:ext>
            </a:extLst>
          </p:cNvPr>
          <p:cNvSpPr/>
          <p:nvPr/>
        </p:nvSpPr>
        <p:spPr>
          <a:xfrm>
            <a:off x="928344" y="3079100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1EE8-646E-DE3F-CE70-491A967BFB28}"/>
              </a:ext>
            </a:extLst>
          </p:cNvPr>
          <p:cNvSpPr/>
          <p:nvPr/>
        </p:nvSpPr>
        <p:spPr>
          <a:xfrm>
            <a:off x="928344" y="2618640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A1EE7E-DF00-A5D0-73EF-B1F2748E15ED}"/>
              </a:ext>
            </a:extLst>
          </p:cNvPr>
          <p:cNvSpPr txBox="1"/>
          <p:nvPr/>
        </p:nvSpPr>
        <p:spPr>
          <a:xfrm>
            <a:off x="2322508" y="2481235"/>
            <a:ext cx="1124296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Prospective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4922F3-60BF-12D6-8A6D-77B4401EF0F4}"/>
              </a:ext>
            </a:extLst>
          </p:cNvPr>
          <p:cNvCxnSpPr>
            <a:cxnSpLocks/>
          </p:cNvCxnSpPr>
          <p:nvPr/>
        </p:nvCxnSpPr>
        <p:spPr>
          <a:xfrm>
            <a:off x="3510677" y="1918010"/>
            <a:ext cx="0" cy="2234850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B1293EF-B536-226B-A95C-ABA402E3F33F}"/>
              </a:ext>
            </a:extLst>
          </p:cNvPr>
          <p:cNvSpPr/>
          <p:nvPr/>
        </p:nvSpPr>
        <p:spPr>
          <a:xfrm>
            <a:off x="828712" y="2564305"/>
            <a:ext cx="487413" cy="3248596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BE4C7D6-5A0C-0057-4FC7-694CF27D6AFD}"/>
              </a:ext>
            </a:extLst>
          </p:cNvPr>
          <p:cNvGrpSpPr/>
          <p:nvPr/>
        </p:nvGrpSpPr>
        <p:grpSpPr>
          <a:xfrm>
            <a:off x="5426846" y="1202984"/>
            <a:ext cx="5778875" cy="4962320"/>
            <a:chOff x="5426846" y="1052736"/>
            <a:chExt cx="5778875" cy="4962320"/>
          </a:xfrm>
        </p:grpSpPr>
        <p:pic>
          <p:nvPicPr>
            <p:cNvPr id="62" name="Graphic 61" descr="Arrow circle outline">
              <a:extLst>
                <a:ext uri="{FF2B5EF4-FFF2-40B4-BE49-F238E27FC236}">
                  <a16:creationId xmlns:a16="http://schemas.microsoft.com/office/drawing/2014/main" id="{5424E067-580D-8376-6062-5C6C78488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056" t="6363" r="18993" b="65383"/>
            <a:stretch/>
          </p:blipFill>
          <p:spPr>
            <a:xfrm>
              <a:off x="7264641" y="2322455"/>
              <a:ext cx="2537783" cy="1237335"/>
            </a:xfrm>
            <a:prstGeom prst="rect">
              <a:avLst/>
            </a:prstGeom>
          </p:spPr>
        </p:pic>
        <p:pic>
          <p:nvPicPr>
            <p:cNvPr id="63" name="Graphic 62" descr="Arrow circle outline">
              <a:extLst>
                <a:ext uri="{FF2B5EF4-FFF2-40B4-BE49-F238E27FC236}">
                  <a16:creationId xmlns:a16="http://schemas.microsoft.com/office/drawing/2014/main" id="{8E19F345-09C3-BAAB-BCE0-45216A6D49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0169" t="35547" r="49151" b="11906"/>
            <a:stretch/>
          </p:blipFill>
          <p:spPr>
            <a:xfrm>
              <a:off x="6809476" y="3635052"/>
              <a:ext cx="1781520" cy="2301190"/>
            </a:xfrm>
            <a:prstGeom prst="rect">
              <a:avLst/>
            </a:prstGeom>
          </p:spPr>
        </p:pic>
        <p:pic>
          <p:nvPicPr>
            <p:cNvPr id="64" name="Graphic 63" descr="Electric car with solid fill">
              <a:extLst>
                <a:ext uri="{FF2B5EF4-FFF2-40B4-BE49-F238E27FC236}">
                  <a16:creationId xmlns:a16="http://schemas.microsoft.com/office/drawing/2014/main" id="{E2193D53-71AC-C77A-EBB9-C90F972ADD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08098" y="3420775"/>
              <a:ext cx="1565796" cy="1565792"/>
            </a:xfrm>
            <a:prstGeom prst="rect">
              <a:avLst/>
            </a:prstGeom>
          </p:spPr>
        </p:pic>
        <p:pic>
          <p:nvPicPr>
            <p:cNvPr id="65" name="Graphic 64" descr="Rubbish with solid fill">
              <a:extLst>
                <a:ext uri="{FF2B5EF4-FFF2-40B4-BE49-F238E27FC236}">
                  <a16:creationId xmlns:a16="http://schemas.microsoft.com/office/drawing/2014/main" id="{3D31C52F-D5CD-AABE-B5B6-D0622989C9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50293" y="4302901"/>
              <a:ext cx="988883" cy="988883"/>
            </a:xfrm>
            <a:prstGeom prst="rect">
              <a:avLst/>
            </a:prstGeom>
          </p:spPr>
        </p:pic>
        <p:pic>
          <p:nvPicPr>
            <p:cNvPr id="66" name="Graphic 65" descr="Robot Hand with solid fill">
              <a:extLst>
                <a:ext uri="{FF2B5EF4-FFF2-40B4-BE49-F238E27FC236}">
                  <a16:creationId xmlns:a16="http://schemas.microsoft.com/office/drawing/2014/main" id="{C3323BD1-A1DB-4EF3-4937-5A44146E02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21519" y="4155562"/>
              <a:ext cx="1251081" cy="1251077"/>
            </a:xfrm>
            <a:prstGeom prst="rect">
              <a:avLst/>
            </a:prstGeom>
          </p:spPr>
        </p:pic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AB25165-2DE6-69E6-742D-CA181F1C9A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41573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D28E879-5546-00F1-DE2B-A7D0AA847018}"/>
                </a:ext>
              </a:extLst>
            </p:cNvPr>
            <p:cNvSpPr txBox="1"/>
            <p:nvPr/>
          </p:nvSpPr>
          <p:spPr>
            <a:xfrm>
              <a:off x="5426846" y="5270803"/>
              <a:ext cx="18453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9BA500E-9D75-3307-E143-C7C2F207D86B}"/>
                </a:ext>
              </a:extLst>
            </p:cNvPr>
            <p:cNvSpPr txBox="1"/>
            <p:nvPr/>
          </p:nvSpPr>
          <p:spPr>
            <a:xfrm>
              <a:off x="8151196" y="2117499"/>
              <a:ext cx="681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2400"/>
                <a:t>use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4AB6613-878E-472D-03F6-757A408B169A}"/>
                </a:ext>
              </a:extLst>
            </p:cNvPr>
            <p:cNvSpPr txBox="1"/>
            <p:nvPr/>
          </p:nvSpPr>
          <p:spPr>
            <a:xfrm>
              <a:off x="9685753" y="5266617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</p:txBody>
        </p:sp>
        <p:pic>
          <p:nvPicPr>
            <p:cNvPr id="71" name="Graphic 70" descr="Wind Turbines with solid fill">
              <a:extLst>
                <a:ext uri="{FF2B5EF4-FFF2-40B4-BE49-F238E27FC236}">
                  <a16:creationId xmlns:a16="http://schemas.microsoft.com/office/drawing/2014/main" id="{6E24F757-039D-22D1-5B61-3227D2936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7966620" y="1052736"/>
              <a:ext cx="1090369" cy="1090365"/>
            </a:xfrm>
            <a:prstGeom prst="rect">
              <a:avLst/>
            </a:prstGeom>
          </p:spPr>
        </p:pic>
        <p:pic>
          <p:nvPicPr>
            <p:cNvPr id="72" name="Graphic 71" descr="Arrow circle outline">
              <a:extLst>
                <a:ext uri="{FF2B5EF4-FFF2-40B4-BE49-F238E27FC236}">
                  <a16:creationId xmlns:a16="http://schemas.microsoft.com/office/drawing/2014/main" id="{13BA37AC-238B-5A98-90A4-2089291CFF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51293" t="35547" r="12838" b="11906"/>
            <a:stretch/>
          </p:blipFill>
          <p:spPr>
            <a:xfrm>
              <a:off x="8534008" y="3635052"/>
              <a:ext cx="1570813" cy="230119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3D28A74-26DC-28B6-4DD1-2B11D463155A}"/>
                </a:ext>
              </a:extLst>
            </p:cNvPr>
            <p:cNvSpPr txBox="1"/>
            <p:nvPr/>
          </p:nvSpPr>
          <p:spPr>
            <a:xfrm>
              <a:off x="8006697" y="2405352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6A800"/>
                  </a:solidFill>
                </a:rPr>
                <a:t>2040</a:t>
              </a:r>
              <a:endParaRPr lang="en-DE" sz="2400" b="1">
                <a:solidFill>
                  <a:srgbClr val="F6A800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6B379DB-506D-4A8E-9A76-B34B52FF8D88}"/>
                </a:ext>
              </a:extLst>
            </p:cNvPr>
            <p:cNvSpPr txBox="1"/>
            <p:nvPr/>
          </p:nvSpPr>
          <p:spPr>
            <a:xfrm>
              <a:off x="9979891" y="5549839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7A6FAC"/>
                  </a:solidFill>
                </a:rPr>
                <a:t>2040</a:t>
              </a:r>
              <a:endParaRPr lang="en-DE" sz="2400" b="1">
                <a:solidFill>
                  <a:srgbClr val="7A6FAC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E12BFB4-1AB5-CC02-863C-B53EE2A2B12D}"/>
                </a:ext>
              </a:extLst>
            </p:cNvPr>
            <p:cNvSpPr txBox="1"/>
            <p:nvPr/>
          </p:nvSpPr>
          <p:spPr>
            <a:xfrm>
              <a:off x="5903521" y="5553391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58AB27"/>
                  </a:solidFill>
                </a:rPr>
                <a:t>2040</a:t>
              </a:r>
              <a:endParaRPr lang="en-DE" sz="2400" b="1">
                <a:solidFill>
                  <a:srgbClr val="58AB27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51D0F08-A2A4-F7DF-2FB4-F79740876FF8}"/>
              </a:ext>
            </a:extLst>
          </p:cNvPr>
          <p:cNvSpPr txBox="1"/>
          <p:nvPr/>
        </p:nvSpPr>
        <p:spPr>
          <a:xfrm rot="1990536">
            <a:off x="1130379" y="4221290"/>
            <a:ext cx="2384257" cy="250684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200" b="1" i="1"/>
              <a:t>Evolving production system</a:t>
            </a:r>
            <a:endParaRPr lang="en-DE" sz="1200" b="1" i="1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1D050A4-EDE9-6641-8EE4-8704B95291D8}"/>
              </a:ext>
            </a:extLst>
          </p:cNvPr>
          <p:cNvCxnSpPr>
            <a:cxnSpLocks/>
          </p:cNvCxnSpPr>
          <p:nvPr/>
        </p:nvCxnSpPr>
        <p:spPr>
          <a:xfrm>
            <a:off x="2021712" y="3910643"/>
            <a:ext cx="722746" cy="484434"/>
          </a:xfrm>
          <a:prstGeom prst="straightConnector1">
            <a:avLst/>
          </a:prstGeom>
          <a:ln w="9525" cap="rnd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659377B-BDE4-7626-5735-BE7CE920EC62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sp>
        <p:nvSpPr>
          <p:cNvPr id="79" name="Freeform: Shape 102">
            <a:extLst>
              <a:ext uri="{FF2B5EF4-FFF2-40B4-BE49-F238E27FC236}">
                <a16:creationId xmlns:a16="http://schemas.microsoft.com/office/drawing/2014/main" id="{72287B5A-5BDD-DFFB-51FB-DDA03498BAF2}"/>
              </a:ext>
            </a:extLst>
          </p:cNvPr>
          <p:cNvSpPr/>
          <p:nvPr/>
        </p:nvSpPr>
        <p:spPr>
          <a:xfrm>
            <a:off x="5811143" y="4106479"/>
            <a:ext cx="694890" cy="428849"/>
          </a:xfrm>
          <a:custGeom>
            <a:avLst/>
            <a:gdLst>
              <a:gd name="connsiteX0" fmla="*/ 748609 w 876503"/>
              <a:gd name="connsiteY0" fmla="*/ 237030 h 533333"/>
              <a:gd name="connsiteX1" fmla="*/ 677172 w 876503"/>
              <a:gd name="connsiteY1" fmla="*/ 120825 h 533333"/>
              <a:gd name="connsiteX2" fmla="*/ 540964 w 876503"/>
              <a:gd name="connsiteY2" fmla="*/ 92250 h 533333"/>
              <a:gd name="connsiteX3" fmla="*/ 371353 w 876503"/>
              <a:gd name="connsiteY3" fmla="*/ 0 h 533333"/>
              <a:gd name="connsiteX4" fmla="*/ 324747 w 876503"/>
              <a:gd name="connsiteY4" fmla="*/ 5468 h 533333"/>
              <a:gd name="connsiteX5" fmla="*/ 170442 w 876503"/>
              <a:gd name="connsiteY5" fmla="*/ 176965 h 533333"/>
              <a:gd name="connsiteX6" fmla="*/ 34234 w 876503"/>
              <a:gd name="connsiteY6" fmla="*/ 247450 h 533333"/>
              <a:gd name="connsiteX7" fmla="*/ 16137 w 876503"/>
              <a:gd name="connsiteY7" fmla="*/ 430330 h 533333"/>
              <a:gd name="connsiteX8" fmla="*/ 165679 w 876503"/>
              <a:gd name="connsiteY8" fmla="*/ 532248 h 533333"/>
              <a:gd name="connsiteX9" fmla="*/ 219210 w 876503"/>
              <a:gd name="connsiteY9" fmla="*/ 532248 h 533333"/>
              <a:gd name="connsiteX10" fmla="*/ 200160 w 876503"/>
              <a:gd name="connsiteY10" fmla="*/ 513198 h 533333"/>
              <a:gd name="connsiteX11" fmla="*/ 166194 w 876503"/>
              <a:gd name="connsiteY11" fmla="*/ 513198 h 533333"/>
              <a:gd name="connsiteX12" fmla="*/ 33482 w 876503"/>
              <a:gd name="connsiteY12" fmla="*/ 422663 h 533333"/>
              <a:gd name="connsiteX13" fmla="*/ 49522 w 876503"/>
              <a:gd name="connsiteY13" fmla="*/ 258833 h 533333"/>
              <a:gd name="connsiteX14" fmla="*/ 171061 w 876503"/>
              <a:gd name="connsiteY14" fmla="*/ 196091 h 533333"/>
              <a:gd name="connsiteX15" fmla="*/ 186882 w 876503"/>
              <a:gd name="connsiteY15" fmla="*/ 195520 h 533333"/>
              <a:gd name="connsiteX16" fmla="*/ 189225 w 876503"/>
              <a:gd name="connsiteY16" fmla="*/ 179861 h 533333"/>
              <a:gd name="connsiteX17" fmla="*/ 329167 w 876503"/>
              <a:gd name="connsiteY17" fmla="*/ 24022 h 533333"/>
              <a:gd name="connsiteX18" fmla="*/ 371315 w 876503"/>
              <a:gd name="connsiteY18" fmla="*/ 19003 h 533333"/>
              <a:gd name="connsiteX19" fmla="*/ 524972 w 876503"/>
              <a:gd name="connsiteY19" fmla="*/ 102623 h 533333"/>
              <a:gd name="connsiteX20" fmla="*/ 532021 w 876503"/>
              <a:gd name="connsiteY20" fmla="*/ 113414 h 533333"/>
              <a:gd name="connsiteX21" fmla="*/ 544660 w 876503"/>
              <a:gd name="connsiteY21" fmla="*/ 110881 h 533333"/>
              <a:gd name="connsiteX22" fmla="*/ 665952 w 876503"/>
              <a:gd name="connsiteY22" fmla="*/ 136208 h 533333"/>
              <a:gd name="connsiteX23" fmla="*/ 729769 w 876503"/>
              <a:gd name="connsiteY23" fmla="*/ 240097 h 533333"/>
              <a:gd name="connsiteX24" fmla="*/ 732007 w 876503"/>
              <a:gd name="connsiteY24" fmla="*/ 253803 h 533333"/>
              <a:gd name="connsiteX25" fmla="*/ 745743 w 876503"/>
              <a:gd name="connsiteY25" fmla="*/ 255861 h 533333"/>
              <a:gd name="connsiteX26" fmla="*/ 856127 w 876503"/>
              <a:gd name="connsiteY26" fmla="*/ 402675 h 533333"/>
              <a:gd name="connsiteX27" fmla="*/ 731455 w 876503"/>
              <a:gd name="connsiteY27" fmla="*/ 514284 h 533333"/>
              <a:gd name="connsiteX28" fmla="*/ 675076 w 876503"/>
              <a:gd name="connsiteY28" fmla="*/ 514284 h 533333"/>
              <a:gd name="connsiteX29" fmla="*/ 656026 w 876503"/>
              <a:gd name="connsiteY29" fmla="*/ 533334 h 533333"/>
              <a:gd name="connsiteX30" fmla="*/ 731465 w 876503"/>
              <a:gd name="connsiteY30" fmla="*/ 533334 h 533333"/>
              <a:gd name="connsiteX31" fmla="*/ 876452 w 876503"/>
              <a:gd name="connsiteY31" fmla="*/ 380576 h 533333"/>
              <a:gd name="connsiteX32" fmla="*/ 748609 w 876503"/>
              <a:gd name="connsiteY32" fmla="*/ 237030 h 5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6503" h="533333">
                <a:moveTo>
                  <a:pt x="748609" y="237030"/>
                </a:moveTo>
                <a:cubicBezTo>
                  <a:pt x="741033" y="190397"/>
                  <a:pt x="715362" y="148638"/>
                  <a:pt x="677172" y="120825"/>
                </a:cubicBezTo>
                <a:cubicBezTo>
                  <a:pt x="637582" y="93087"/>
                  <a:pt x="588364" y="82761"/>
                  <a:pt x="540964" y="92250"/>
                </a:cubicBezTo>
                <a:cubicBezTo>
                  <a:pt x="503575" y="34893"/>
                  <a:pt x="439819" y="217"/>
                  <a:pt x="371353" y="0"/>
                </a:cubicBezTo>
                <a:cubicBezTo>
                  <a:pt x="355656" y="-27"/>
                  <a:pt x="340012" y="1808"/>
                  <a:pt x="324747" y="5468"/>
                </a:cubicBezTo>
                <a:cubicBezTo>
                  <a:pt x="243604" y="26566"/>
                  <a:pt x="182884" y="94053"/>
                  <a:pt x="170442" y="176965"/>
                </a:cubicBezTo>
                <a:cubicBezTo>
                  <a:pt x="116767" y="178846"/>
                  <a:pt x="66769" y="204718"/>
                  <a:pt x="34234" y="247450"/>
                </a:cubicBezTo>
                <a:cubicBezTo>
                  <a:pt x="-3752" y="300906"/>
                  <a:pt x="-10635" y="370466"/>
                  <a:pt x="16137" y="430330"/>
                </a:cubicBezTo>
                <a:cubicBezTo>
                  <a:pt x="43445" y="489221"/>
                  <a:pt x="100881" y="528366"/>
                  <a:pt x="165679" y="532248"/>
                </a:cubicBezTo>
                <a:lnTo>
                  <a:pt x="219210" y="532248"/>
                </a:lnTo>
                <a:lnTo>
                  <a:pt x="200160" y="513198"/>
                </a:lnTo>
                <a:lnTo>
                  <a:pt x="166194" y="513198"/>
                </a:lnTo>
                <a:cubicBezTo>
                  <a:pt x="108730" y="509554"/>
                  <a:pt x="57839" y="474836"/>
                  <a:pt x="33482" y="422663"/>
                </a:cubicBezTo>
                <a:cubicBezTo>
                  <a:pt x="9650" y="369031"/>
                  <a:pt x="15741" y="306823"/>
                  <a:pt x="49522" y="258833"/>
                </a:cubicBezTo>
                <a:cubicBezTo>
                  <a:pt x="78693" y="220891"/>
                  <a:pt x="123235" y="197897"/>
                  <a:pt x="171061" y="196091"/>
                </a:cubicBezTo>
                <a:lnTo>
                  <a:pt x="186882" y="195520"/>
                </a:lnTo>
                <a:lnTo>
                  <a:pt x="189225" y="179861"/>
                </a:lnTo>
                <a:cubicBezTo>
                  <a:pt x="200330" y="104519"/>
                  <a:pt x="255449" y="43139"/>
                  <a:pt x="329167" y="24022"/>
                </a:cubicBezTo>
                <a:cubicBezTo>
                  <a:pt x="342968" y="20690"/>
                  <a:pt x="357117" y="19005"/>
                  <a:pt x="371315" y="19003"/>
                </a:cubicBezTo>
                <a:cubicBezTo>
                  <a:pt x="433395" y="19035"/>
                  <a:pt x="491234" y="50511"/>
                  <a:pt x="524972" y="102623"/>
                </a:cubicBezTo>
                <a:lnTo>
                  <a:pt x="532021" y="113414"/>
                </a:lnTo>
                <a:lnTo>
                  <a:pt x="544660" y="110881"/>
                </a:lnTo>
                <a:cubicBezTo>
                  <a:pt x="586853" y="102441"/>
                  <a:pt x="630662" y="111589"/>
                  <a:pt x="665952" y="136208"/>
                </a:cubicBezTo>
                <a:cubicBezTo>
                  <a:pt x="700001" y="161151"/>
                  <a:pt x="722913" y="198450"/>
                  <a:pt x="729769" y="240097"/>
                </a:cubicBezTo>
                <a:lnTo>
                  <a:pt x="732007" y="253803"/>
                </a:lnTo>
                <a:lnTo>
                  <a:pt x="745743" y="255861"/>
                </a:lnTo>
                <a:cubicBezTo>
                  <a:pt x="816766" y="265921"/>
                  <a:pt x="866186" y="331652"/>
                  <a:pt x="856127" y="402675"/>
                </a:cubicBezTo>
                <a:cubicBezTo>
                  <a:pt x="847262" y="465258"/>
                  <a:pt x="794633" y="512372"/>
                  <a:pt x="731455" y="514284"/>
                </a:cubicBezTo>
                <a:lnTo>
                  <a:pt x="675076" y="514284"/>
                </a:lnTo>
                <a:lnTo>
                  <a:pt x="656026" y="533334"/>
                </a:lnTo>
                <a:lnTo>
                  <a:pt x="731465" y="533334"/>
                </a:lnTo>
                <a:cubicBezTo>
                  <a:pt x="813684" y="531188"/>
                  <a:pt x="878598" y="462796"/>
                  <a:pt x="876452" y="380576"/>
                </a:cubicBezTo>
                <a:cubicBezTo>
                  <a:pt x="874557" y="307949"/>
                  <a:pt x="820533" y="247289"/>
                  <a:pt x="748609" y="237030"/>
                </a:cubicBezTo>
                <a:close/>
              </a:path>
            </a:pathLst>
          </a:custGeom>
          <a:solidFill>
            <a:srgbClr val="58AB2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80" name="Graphic 79" descr="Wireless with solid fill">
            <a:extLst>
              <a:ext uri="{FF2B5EF4-FFF2-40B4-BE49-F238E27FC236}">
                <a16:creationId xmlns:a16="http://schemas.microsoft.com/office/drawing/2014/main" id="{6E01B93C-2436-929A-A5D6-F3C8CA5C5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23993">
            <a:off x="5928639" y="4180992"/>
            <a:ext cx="483913" cy="459324"/>
          </a:xfrm>
          <a:prstGeom prst="rect">
            <a:avLst/>
          </a:prstGeom>
        </p:spPr>
      </p:pic>
      <p:sp>
        <p:nvSpPr>
          <p:cNvPr id="81" name="Freeform: Shape 104">
            <a:extLst>
              <a:ext uri="{FF2B5EF4-FFF2-40B4-BE49-F238E27FC236}">
                <a16:creationId xmlns:a16="http://schemas.microsoft.com/office/drawing/2014/main" id="{E4872353-701B-E992-14AD-484BA9158967}"/>
              </a:ext>
            </a:extLst>
          </p:cNvPr>
          <p:cNvSpPr/>
          <p:nvPr/>
        </p:nvSpPr>
        <p:spPr>
          <a:xfrm>
            <a:off x="10571398" y="4139494"/>
            <a:ext cx="694890" cy="428849"/>
          </a:xfrm>
          <a:custGeom>
            <a:avLst/>
            <a:gdLst>
              <a:gd name="connsiteX0" fmla="*/ 748609 w 876503"/>
              <a:gd name="connsiteY0" fmla="*/ 237030 h 533333"/>
              <a:gd name="connsiteX1" fmla="*/ 677172 w 876503"/>
              <a:gd name="connsiteY1" fmla="*/ 120825 h 533333"/>
              <a:gd name="connsiteX2" fmla="*/ 540964 w 876503"/>
              <a:gd name="connsiteY2" fmla="*/ 92250 h 533333"/>
              <a:gd name="connsiteX3" fmla="*/ 371353 w 876503"/>
              <a:gd name="connsiteY3" fmla="*/ 0 h 533333"/>
              <a:gd name="connsiteX4" fmla="*/ 324747 w 876503"/>
              <a:gd name="connsiteY4" fmla="*/ 5468 h 533333"/>
              <a:gd name="connsiteX5" fmla="*/ 170442 w 876503"/>
              <a:gd name="connsiteY5" fmla="*/ 176965 h 533333"/>
              <a:gd name="connsiteX6" fmla="*/ 34234 w 876503"/>
              <a:gd name="connsiteY6" fmla="*/ 247450 h 533333"/>
              <a:gd name="connsiteX7" fmla="*/ 16137 w 876503"/>
              <a:gd name="connsiteY7" fmla="*/ 430330 h 533333"/>
              <a:gd name="connsiteX8" fmla="*/ 165679 w 876503"/>
              <a:gd name="connsiteY8" fmla="*/ 532248 h 533333"/>
              <a:gd name="connsiteX9" fmla="*/ 219210 w 876503"/>
              <a:gd name="connsiteY9" fmla="*/ 532248 h 533333"/>
              <a:gd name="connsiteX10" fmla="*/ 200160 w 876503"/>
              <a:gd name="connsiteY10" fmla="*/ 513198 h 533333"/>
              <a:gd name="connsiteX11" fmla="*/ 166194 w 876503"/>
              <a:gd name="connsiteY11" fmla="*/ 513198 h 533333"/>
              <a:gd name="connsiteX12" fmla="*/ 33482 w 876503"/>
              <a:gd name="connsiteY12" fmla="*/ 422663 h 533333"/>
              <a:gd name="connsiteX13" fmla="*/ 49522 w 876503"/>
              <a:gd name="connsiteY13" fmla="*/ 258833 h 533333"/>
              <a:gd name="connsiteX14" fmla="*/ 171061 w 876503"/>
              <a:gd name="connsiteY14" fmla="*/ 196091 h 533333"/>
              <a:gd name="connsiteX15" fmla="*/ 186882 w 876503"/>
              <a:gd name="connsiteY15" fmla="*/ 195520 h 533333"/>
              <a:gd name="connsiteX16" fmla="*/ 189225 w 876503"/>
              <a:gd name="connsiteY16" fmla="*/ 179861 h 533333"/>
              <a:gd name="connsiteX17" fmla="*/ 329167 w 876503"/>
              <a:gd name="connsiteY17" fmla="*/ 24022 h 533333"/>
              <a:gd name="connsiteX18" fmla="*/ 371315 w 876503"/>
              <a:gd name="connsiteY18" fmla="*/ 19003 h 533333"/>
              <a:gd name="connsiteX19" fmla="*/ 524972 w 876503"/>
              <a:gd name="connsiteY19" fmla="*/ 102623 h 533333"/>
              <a:gd name="connsiteX20" fmla="*/ 532021 w 876503"/>
              <a:gd name="connsiteY20" fmla="*/ 113414 h 533333"/>
              <a:gd name="connsiteX21" fmla="*/ 544660 w 876503"/>
              <a:gd name="connsiteY21" fmla="*/ 110881 h 533333"/>
              <a:gd name="connsiteX22" fmla="*/ 665952 w 876503"/>
              <a:gd name="connsiteY22" fmla="*/ 136208 h 533333"/>
              <a:gd name="connsiteX23" fmla="*/ 729769 w 876503"/>
              <a:gd name="connsiteY23" fmla="*/ 240097 h 533333"/>
              <a:gd name="connsiteX24" fmla="*/ 732007 w 876503"/>
              <a:gd name="connsiteY24" fmla="*/ 253803 h 533333"/>
              <a:gd name="connsiteX25" fmla="*/ 745743 w 876503"/>
              <a:gd name="connsiteY25" fmla="*/ 255861 h 533333"/>
              <a:gd name="connsiteX26" fmla="*/ 856127 w 876503"/>
              <a:gd name="connsiteY26" fmla="*/ 402675 h 533333"/>
              <a:gd name="connsiteX27" fmla="*/ 731455 w 876503"/>
              <a:gd name="connsiteY27" fmla="*/ 514284 h 533333"/>
              <a:gd name="connsiteX28" fmla="*/ 675076 w 876503"/>
              <a:gd name="connsiteY28" fmla="*/ 514284 h 533333"/>
              <a:gd name="connsiteX29" fmla="*/ 656026 w 876503"/>
              <a:gd name="connsiteY29" fmla="*/ 533334 h 533333"/>
              <a:gd name="connsiteX30" fmla="*/ 731465 w 876503"/>
              <a:gd name="connsiteY30" fmla="*/ 533334 h 533333"/>
              <a:gd name="connsiteX31" fmla="*/ 876452 w 876503"/>
              <a:gd name="connsiteY31" fmla="*/ 380576 h 533333"/>
              <a:gd name="connsiteX32" fmla="*/ 748609 w 876503"/>
              <a:gd name="connsiteY32" fmla="*/ 237030 h 5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6503" h="533333">
                <a:moveTo>
                  <a:pt x="748609" y="237030"/>
                </a:moveTo>
                <a:cubicBezTo>
                  <a:pt x="741033" y="190397"/>
                  <a:pt x="715362" y="148638"/>
                  <a:pt x="677172" y="120825"/>
                </a:cubicBezTo>
                <a:cubicBezTo>
                  <a:pt x="637582" y="93087"/>
                  <a:pt x="588364" y="82761"/>
                  <a:pt x="540964" y="92250"/>
                </a:cubicBezTo>
                <a:cubicBezTo>
                  <a:pt x="503575" y="34893"/>
                  <a:pt x="439819" y="217"/>
                  <a:pt x="371353" y="0"/>
                </a:cubicBezTo>
                <a:cubicBezTo>
                  <a:pt x="355656" y="-27"/>
                  <a:pt x="340012" y="1808"/>
                  <a:pt x="324747" y="5468"/>
                </a:cubicBezTo>
                <a:cubicBezTo>
                  <a:pt x="243604" y="26566"/>
                  <a:pt x="182884" y="94053"/>
                  <a:pt x="170442" y="176965"/>
                </a:cubicBezTo>
                <a:cubicBezTo>
                  <a:pt x="116767" y="178846"/>
                  <a:pt x="66769" y="204718"/>
                  <a:pt x="34234" y="247450"/>
                </a:cubicBezTo>
                <a:cubicBezTo>
                  <a:pt x="-3752" y="300906"/>
                  <a:pt x="-10635" y="370466"/>
                  <a:pt x="16137" y="430330"/>
                </a:cubicBezTo>
                <a:cubicBezTo>
                  <a:pt x="43445" y="489221"/>
                  <a:pt x="100881" y="528366"/>
                  <a:pt x="165679" y="532248"/>
                </a:cubicBezTo>
                <a:lnTo>
                  <a:pt x="219210" y="532248"/>
                </a:lnTo>
                <a:lnTo>
                  <a:pt x="200160" y="513198"/>
                </a:lnTo>
                <a:lnTo>
                  <a:pt x="166194" y="513198"/>
                </a:lnTo>
                <a:cubicBezTo>
                  <a:pt x="108730" y="509554"/>
                  <a:pt x="57839" y="474836"/>
                  <a:pt x="33482" y="422663"/>
                </a:cubicBezTo>
                <a:cubicBezTo>
                  <a:pt x="9650" y="369031"/>
                  <a:pt x="15741" y="306823"/>
                  <a:pt x="49522" y="258833"/>
                </a:cubicBezTo>
                <a:cubicBezTo>
                  <a:pt x="78693" y="220891"/>
                  <a:pt x="123235" y="197897"/>
                  <a:pt x="171061" y="196091"/>
                </a:cubicBezTo>
                <a:lnTo>
                  <a:pt x="186882" y="195520"/>
                </a:lnTo>
                <a:lnTo>
                  <a:pt x="189225" y="179861"/>
                </a:lnTo>
                <a:cubicBezTo>
                  <a:pt x="200330" y="104519"/>
                  <a:pt x="255449" y="43139"/>
                  <a:pt x="329167" y="24022"/>
                </a:cubicBezTo>
                <a:cubicBezTo>
                  <a:pt x="342968" y="20690"/>
                  <a:pt x="357117" y="19005"/>
                  <a:pt x="371315" y="19003"/>
                </a:cubicBezTo>
                <a:cubicBezTo>
                  <a:pt x="433395" y="19035"/>
                  <a:pt x="491234" y="50511"/>
                  <a:pt x="524972" y="102623"/>
                </a:cubicBezTo>
                <a:lnTo>
                  <a:pt x="532021" y="113414"/>
                </a:lnTo>
                <a:lnTo>
                  <a:pt x="544660" y="110881"/>
                </a:lnTo>
                <a:cubicBezTo>
                  <a:pt x="586853" y="102441"/>
                  <a:pt x="630662" y="111589"/>
                  <a:pt x="665952" y="136208"/>
                </a:cubicBezTo>
                <a:cubicBezTo>
                  <a:pt x="700001" y="161151"/>
                  <a:pt x="722913" y="198450"/>
                  <a:pt x="729769" y="240097"/>
                </a:cubicBezTo>
                <a:lnTo>
                  <a:pt x="732007" y="253803"/>
                </a:lnTo>
                <a:lnTo>
                  <a:pt x="745743" y="255861"/>
                </a:lnTo>
                <a:cubicBezTo>
                  <a:pt x="816766" y="265921"/>
                  <a:pt x="866186" y="331652"/>
                  <a:pt x="856127" y="402675"/>
                </a:cubicBezTo>
                <a:cubicBezTo>
                  <a:pt x="847262" y="465258"/>
                  <a:pt x="794633" y="512372"/>
                  <a:pt x="731455" y="514284"/>
                </a:cubicBezTo>
                <a:lnTo>
                  <a:pt x="675076" y="514284"/>
                </a:lnTo>
                <a:lnTo>
                  <a:pt x="656026" y="533334"/>
                </a:lnTo>
                <a:lnTo>
                  <a:pt x="731465" y="533334"/>
                </a:lnTo>
                <a:cubicBezTo>
                  <a:pt x="813684" y="531188"/>
                  <a:pt x="878598" y="462796"/>
                  <a:pt x="876452" y="380576"/>
                </a:cubicBezTo>
                <a:cubicBezTo>
                  <a:pt x="874557" y="307949"/>
                  <a:pt x="820533" y="247289"/>
                  <a:pt x="748609" y="237030"/>
                </a:cubicBezTo>
                <a:close/>
              </a:path>
            </a:pathLst>
          </a:custGeom>
          <a:solidFill>
            <a:srgbClr val="7A6F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82" name="Graphic 81" descr="Wireless with solid fill">
            <a:extLst>
              <a:ext uri="{FF2B5EF4-FFF2-40B4-BE49-F238E27FC236}">
                <a16:creationId xmlns:a16="http://schemas.microsoft.com/office/drawing/2014/main" id="{65C90970-5562-0859-EFD7-F699F605F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823993">
            <a:off x="10662396" y="4207450"/>
            <a:ext cx="483913" cy="459324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2969017-EBBD-9036-9A94-7883A0AC2B15}"/>
              </a:ext>
            </a:extLst>
          </p:cNvPr>
          <p:cNvCxnSpPr>
            <a:cxnSpLocks/>
          </p:cNvCxnSpPr>
          <p:nvPr/>
        </p:nvCxnSpPr>
        <p:spPr>
          <a:xfrm>
            <a:off x="1079757" y="1880341"/>
            <a:ext cx="0" cy="612555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3FAF83E1-1293-4453-5D8F-E5EC4BDD116F}"/>
              </a:ext>
            </a:extLst>
          </p:cNvPr>
          <p:cNvSpPr txBox="1"/>
          <p:nvPr/>
        </p:nvSpPr>
        <p:spPr>
          <a:xfrm>
            <a:off x="1097849" y="1929452"/>
            <a:ext cx="1249138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Conventional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5171FB-B2C7-6568-A036-460FF039AF83}"/>
              </a:ext>
            </a:extLst>
          </p:cNvPr>
          <p:cNvSpPr/>
          <p:nvPr/>
        </p:nvSpPr>
        <p:spPr>
          <a:xfrm>
            <a:off x="736069" y="1140038"/>
            <a:ext cx="2418578" cy="1396683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98A0BED-619C-FB35-BB48-6CB769FE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E87-E4E5-8C99-DE6B-D31885308E5E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F0B75A-85A5-464F-CB94-41C188AE232A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52522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A022B-6BD5-B686-26B7-BCE7D235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4118D-FBB4-60BA-5360-BAE11766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B8BC79-172B-28BF-843B-747D77F8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Temporal distribution: </a:t>
            </a:r>
            <a:r>
              <a:rPr lang="en-GB" b="0" i="1"/>
              <a:t>“the system over time” 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15655E-BDBC-7F4C-B496-57A55F2E5247}"/>
              </a:ext>
            </a:extLst>
          </p:cNvPr>
          <p:cNvCxnSpPr>
            <a:cxnSpLocks/>
          </p:cNvCxnSpPr>
          <p:nvPr/>
        </p:nvCxnSpPr>
        <p:spPr>
          <a:xfrm>
            <a:off x="1313374" y="2619096"/>
            <a:ext cx="219189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B13F1D-FFE9-9B83-BE34-AE1C982096F1}"/>
              </a:ext>
            </a:extLst>
          </p:cNvPr>
          <p:cNvCxnSpPr>
            <a:cxnSpLocks/>
          </p:cNvCxnSpPr>
          <p:nvPr/>
        </p:nvCxnSpPr>
        <p:spPr>
          <a:xfrm>
            <a:off x="1911491" y="4343181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339518-0840-6845-D071-03649866F84B}"/>
              </a:ext>
            </a:extLst>
          </p:cNvPr>
          <p:cNvCxnSpPr>
            <a:cxnSpLocks/>
          </p:cNvCxnSpPr>
          <p:nvPr/>
        </p:nvCxnSpPr>
        <p:spPr>
          <a:xfrm>
            <a:off x="2506491" y="3707403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24662F-3DD8-0E1F-A4B6-E7538742AA46}"/>
              </a:ext>
            </a:extLst>
          </p:cNvPr>
          <p:cNvCxnSpPr>
            <a:cxnSpLocks/>
          </p:cNvCxnSpPr>
          <p:nvPr/>
        </p:nvCxnSpPr>
        <p:spPr>
          <a:xfrm>
            <a:off x="3074477" y="3071625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1CE0F4-958C-0452-7779-16EB3B769756}"/>
              </a:ext>
            </a:extLst>
          </p:cNvPr>
          <p:cNvCxnSpPr>
            <a:cxnSpLocks/>
          </p:cNvCxnSpPr>
          <p:nvPr/>
        </p:nvCxnSpPr>
        <p:spPr>
          <a:xfrm>
            <a:off x="1312114" y="4980496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2F74ABA-BAEC-121D-35E5-93841BCD14DE}"/>
              </a:ext>
            </a:extLst>
          </p:cNvPr>
          <p:cNvSpPr/>
          <p:nvPr/>
        </p:nvSpPr>
        <p:spPr>
          <a:xfrm>
            <a:off x="1524586" y="4343181"/>
            <a:ext cx="377530" cy="635778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92E535-207C-26DF-5B2E-582722792610}"/>
              </a:ext>
            </a:extLst>
          </p:cNvPr>
          <p:cNvSpPr/>
          <p:nvPr/>
        </p:nvSpPr>
        <p:spPr>
          <a:xfrm>
            <a:off x="2125892" y="3707403"/>
            <a:ext cx="377530" cy="635778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C158BE-6631-5CF4-2262-D0F79B8C23E6}"/>
              </a:ext>
            </a:extLst>
          </p:cNvPr>
          <p:cNvSpPr/>
          <p:nvPr/>
        </p:nvSpPr>
        <p:spPr>
          <a:xfrm>
            <a:off x="2723902" y="3071625"/>
            <a:ext cx="377530" cy="635778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2C328-88F3-DABD-D273-187BE277360C}"/>
              </a:ext>
            </a:extLst>
          </p:cNvPr>
          <p:cNvSpPr/>
          <p:nvPr/>
        </p:nvSpPr>
        <p:spPr>
          <a:xfrm>
            <a:off x="3321911" y="2613685"/>
            <a:ext cx="377530" cy="46876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B27A7-0461-03AE-3BBE-BC5F2FC372BD}"/>
              </a:ext>
            </a:extLst>
          </p:cNvPr>
          <p:cNvSpPr/>
          <p:nvPr/>
        </p:nvSpPr>
        <p:spPr>
          <a:xfrm>
            <a:off x="928344" y="4978959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A51D81E-640F-19C0-00D4-5F4B5AB7E697}"/>
              </a:ext>
            </a:extLst>
          </p:cNvPr>
          <p:cNvSpPr/>
          <p:nvPr/>
        </p:nvSpPr>
        <p:spPr>
          <a:xfrm rot="19292694" flipH="1">
            <a:off x="1840008" y="1083438"/>
            <a:ext cx="1265765" cy="3901104"/>
          </a:xfrm>
          <a:prstGeom prst="arc">
            <a:avLst>
              <a:gd name="adj1" fmla="val 16838775"/>
              <a:gd name="adj2" fmla="val 0"/>
            </a:avLst>
          </a:prstGeom>
          <a:ln w="18161" cap="rnd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9436" tIns="29718" rIns="59436" bIns="29718" rtlCol="0" anchor="ctr"/>
          <a:lstStyle/>
          <a:p>
            <a:pPr algn="ctr"/>
            <a:endParaRPr lang="en-D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9B476D-D7FC-B742-2141-424384920AFF}"/>
              </a:ext>
            </a:extLst>
          </p:cNvPr>
          <p:cNvCxnSpPr>
            <a:cxnSpLocks/>
          </p:cNvCxnSpPr>
          <p:nvPr/>
        </p:nvCxnSpPr>
        <p:spPr>
          <a:xfrm>
            <a:off x="1117109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76F372-4C6E-2415-B0F7-825019132B36}"/>
              </a:ext>
            </a:extLst>
          </p:cNvPr>
          <p:cNvCxnSpPr>
            <a:cxnSpLocks/>
          </p:cNvCxnSpPr>
          <p:nvPr/>
        </p:nvCxnSpPr>
        <p:spPr>
          <a:xfrm>
            <a:off x="351067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8B275D-A6E9-ADAC-84E1-57DAC91BC1C0}"/>
              </a:ext>
            </a:extLst>
          </p:cNvPr>
          <p:cNvCxnSpPr>
            <a:cxnSpLocks/>
          </p:cNvCxnSpPr>
          <p:nvPr/>
        </p:nvCxnSpPr>
        <p:spPr>
          <a:xfrm>
            <a:off x="690668" y="5820992"/>
            <a:ext cx="3260017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43263E9-68DA-EF8F-3811-E5052A90AF53}"/>
              </a:ext>
            </a:extLst>
          </p:cNvPr>
          <p:cNvCxnSpPr>
            <a:cxnSpLocks/>
          </p:cNvCxnSpPr>
          <p:nvPr/>
        </p:nvCxnSpPr>
        <p:spPr>
          <a:xfrm flipV="1">
            <a:off x="690668" y="2189841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2B2A6D-D60B-A011-829F-EBBFF4A2F02F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0C5956-F168-3226-36CB-9C94E1FD5646}"/>
              </a:ext>
            </a:extLst>
          </p:cNvPr>
          <p:cNvCxnSpPr>
            <a:cxnSpLocks/>
          </p:cNvCxnSpPr>
          <p:nvPr/>
        </p:nvCxnSpPr>
        <p:spPr>
          <a:xfrm>
            <a:off x="1713352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0838A1-EFCA-6C18-F640-C0FA331DACD2}"/>
              </a:ext>
            </a:extLst>
          </p:cNvPr>
          <p:cNvCxnSpPr>
            <a:cxnSpLocks/>
          </p:cNvCxnSpPr>
          <p:nvPr/>
        </p:nvCxnSpPr>
        <p:spPr>
          <a:xfrm>
            <a:off x="2314658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BB0A20-08AF-672D-9D78-1C25ADD192C5}"/>
              </a:ext>
            </a:extLst>
          </p:cNvPr>
          <p:cNvCxnSpPr>
            <a:cxnSpLocks/>
          </p:cNvCxnSpPr>
          <p:nvPr/>
        </p:nvCxnSpPr>
        <p:spPr>
          <a:xfrm>
            <a:off x="291266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524744C-E7BC-C0E2-1D75-DD8058191FE6}"/>
              </a:ext>
            </a:extLst>
          </p:cNvPr>
          <p:cNvSpPr txBox="1"/>
          <p:nvPr/>
        </p:nvSpPr>
        <p:spPr>
          <a:xfrm rot="18900000">
            <a:off x="723477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3541B7-BA4F-CC91-9D97-E05D653FF0EE}"/>
              </a:ext>
            </a:extLst>
          </p:cNvPr>
          <p:cNvSpPr txBox="1"/>
          <p:nvPr/>
        </p:nvSpPr>
        <p:spPr>
          <a:xfrm rot="18900000">
            <a:off x="1325001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0A564C-E5CD-536E-F5B6-4C3742391836}"/>
              </a:ext>
            </a:extLst>
          </p:cNvPr>
          <p:cNvSpPr txBox="1"/>
          <p:nvPr/>
        </p:nvSpPr>
        <p:spPr>
          <a:xfrm rot="18900000">
            <a:off x="1926525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756BB0-F1FA-DAF6-63BC-6EC5DAB52454}"/>
              </a:ext>
            </a:extLst>
          </p:cNvPr>
          <p:cNvSpPr txBox="1"/>
          <p:nvPr/>
        </p:nvSpPr>
        <p:spPr>
          <a:xfrm rot="18900000">
            <a:off x="2528049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C2CF63-6DB2-4842-30DB-66351975CEFB}"/>
              </a:ext>
            </a:extLst>
          </p:cNvPr>
          <p:cNvSpPr txBox="1"/>
          <p:nvPr/>
        </p:nvSpPr>
        <p:spPr>
          <a:xfrm rot="18900000">
            <a:off x="3129573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2040</a:t>
            </a:r>
          </a:p>
        </p:txBody>
      </p:sp>
      <p:sp>
        <p:nvSpPr>
          <p:cNvPr id="32" name="Freeform 163">
            <a:extLst>
              <a:ext uri="{FF2B5EF4-FFF2-40B4-BE49-F238E27FC236}">
                <a16:creationId xmlns:a16="http://schemas.microsoft.com/office/drawing/2014/main" id="{C45E1725-3E9D-A9B5-B291-2912C7BD05C9}"/>
              </a:ext>
            </a:extLst>
          </p:cNvPr>
          <p:cNvSpPr/>
          <p:nvPr/>
        </p:nvSpPr>
        <p:spPr>
          <a:xfrm>
            <a:off x="97375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3" name="Freeform 164">
            <a:extLst>
              <a:ext uri="{FF2B5EF4-FFF2-40B4-BE49-F238E27FC236}">
                <a16:creationId xmlns:a16="http://schemas.microsoft.com/office/drawing/2014/main" id="{5A724B86-3DFD-A0EE-6358-27925943C097}"/>
              </a:ext>
            </a:extLst>
          </p:cNvPr>
          <p:cNvSpPr/>
          <p:nvPr/>
        </p:nvSpPr>
        <p:spPr>
          <a:xfrm>
            <a:off x="97375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4" name="Freeform 165">
            <a:extLst>
              <a:ext uri="{FF2B5EF4-FFF2-40B4-BE49-F238E27FC236}">
                <a16:creationId xmlns:a16="http://schemas.microsoft.com/office/drawing/2014/main" id="{CEAFA9BC-CF5D-5981-C519-1C767142B034}"/>
              </a:ext>
            </a:extLst>
          </p:cNvPr>
          <p:cNvSpPr/>
          <p:nvPr/>
        </p:nvSpPr>
        <p:spPr>
          <a:xfrm>
            <a:off x="97375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5" name="Freeform 166">
            <a:extLst>
              <a:ext uri="{FF2B5EF4-FFF2-40B4-BE49-F238E27FC236}">
                <a16:creationId xmlns:a16="http://schemas.microsoft.com/office/drawing/2014/main" id="{F5FA208B-DF07-73ED-FFBD-D8AC417851AC}"/>
              </a:ext>
            </a:extLst>
          </p:cNvPr>
          <p:cNvSpPr/>
          <p:nvPr/>
        </p:nvSpPr>
        <p:spPr>
          <a:xfrm>
            <a:off x="97375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6" name="Freeform 167">
            <a:extLst>
              <a:ext uri="{FF2B5EF4-FFF2-40B4-BE49-F238E27FC236}">
                <a16:creationId xmlns:a16="http://schemas.microsoft.com/office/drawing/2014/main" id="{06B3EE14-368D-FE63-CAB7-92D116ABC796}"/>
              </a:ext>
            </a:extLst>
          </p:cNvPr>
          <p:cNvSpPr/>
          <p:nvPr/>
        </p:nvSpPr>
        <p:spPr>
          <a:xfrm>
            <a:off x="157369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7" name="Freeform 168">
            <a:extLst>
              <a:ext uri="{FF2B5EF4-FFF2-40B4-BE49-F238E27FC236}">
                <a16:creationId xmlns:a16="http://schemas.microsoft.com/office/drawing/2014/main" id="{57D05EBB-B33E-A5D3-19A3-722973CE1935}"/>
              </a:ext>
            </a:extLst>
          </p:cNvPr>
          <p:cNvSpPr/>
          <p:nvPr/>
        </p:nvSpPr>
        <p:spPr>
          <a:xfrm>
            <a:off x="157369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8" name="Freeform 169">
            <a:extLst>
              <a:ext uri="{FF2B5EF4-FFF2-40B4-BE49-F238E27FC236}">
                <a16:creationId xmlns:a16="http://schemas.microsoft.com/office/drawing/2014/main" id="{F3D58EA7-E379-6B2E-B6DB-8CE89E928706}"/>
              </a:ext>
            </a:extLst>
          </p:cNvPr>
          <p:cNvSpPr/>
          <p:nvPr/>
        </p:nvSpPr>
        <p:spPr>
          <a:xfrm>
            <a:off x="157369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ABE4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9" name="Freeform 170">
            <a:extLst>
              <a:ext uri="{FF2B5EF4-FFF2-40B4-BE49-F238E27FC236}">
                <a16:creationId xmlns:a16="http://schemas.microsoft.com/office/drawing/2014/main" id="{FB0BA12A-6C7E-C6A7-9487-8B7F91F5508D}"/>
              </a:ext>
            </a:extLst>
          </p:cNvPr>
          <p:cNvSpPr/>
          <p:nvPr/>
        </p:nvSpPr>
        <p:spPr>
          <a:xfrm>
            <a:off x="157369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8BA5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0" name="Freeform 171">
            <a:extLst>
              <a:ext uri="{FF2B5EF4-FFF2-40B4-BE49-F238E27FC236}">
                <a16:creationId xmlns:a16="http://schemas.microsoft.com/office/drawing/2014/main" id="{FB3C908A-04EE-A7BF-F416-48F9220C9985}"/>
              </a:ext>
            </a:extLst>
          </p:cNvPr>
          <p:cNvSpPr/>
          <p:nvPr/>
        </p:nvSpPr>
        <p:spPr>
          <a:xfrm>
            <a:off x="217363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1" name="Freeform 172">
            <a:extLst>
              <a:ext uri="{FF2B5EF4-FFF2-40B4-BE49-F238E27FC236}">
                <a16:creationId xmlns:a16="http://schemas.microsoft.com/office/drawing/2014/main" id="{0128C8AA-3475-914D-CB73-BC0F6151EE3E}"/>
              </a:ext>
            </a:extLst>
          </p:cNvPr>
          <p:cNvSpPr/>
          <p:nvPr/>
        </p:nvSpPr>
        <p:spPr>
          <a:xfrm>
            <a:off x="217363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2" name="Freeform 173">
            <a:extLst>
              <a:ext uri="{FF2B5EF4-FFF2-40B4-BE49-F238E27FC236}">
                <a16:creationId xmlns:a16="http://schemas.microsoft.com/office/drawing/2014/main" id="{F1CECF57-0170-1586-3EF7-4E8C88865F8B}"/>
              </a:ext>
            </a:extLst>
          </p:cNvPr>
          <p:cNvSpPr/>
          <p:nvPr/>
        </p:nvSpPr>
        <p:spPr>
          <a:xfrm>
            <a:off x="217363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FC553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3" name="Freeform 174">
            <a:extLst>
              <a:ext uri="{FF2B5EF4-FFF2-40B4-BE49-F238E27FC236}">
                <a16:creationId xmlns:a16="http://schemas.microsoft.com/office/drawing/2014/main" id="{194AACB1-72FE-98E1-9DB3-2B9153929CA0}"/>
              </a:ext>
            </a:extLst>
          </p:cNvPr>
          <p:cNvSpPr/>
          <p:nvPr/>
        </p:nvSpPr>
        <p:spPr>
          <a:xfrm>
            <a:off x="217363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DC05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4" name="Freeform 175">
            <a:extLst>
              <a:ext uri="{FF2B5EF4-FFF2-40B4-BE49-F238E27FC236}">
                <a16:creationId xmlns:a16="http://schemas.microsoft.com/office/drawing/2014/main" id="{1D9F38B0-8988-5B12-56D9-8EC8555DE939}"/>
              </a:ext>
            </a:extLst>
          </p:cNvPr>
          <p:cNvSpPr/>
          <p:nvPr/>
        </p:nvSpPr>
        <p:spPr>
          <a:xfrm>
            <a:off x="277357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5" name="Freeform 176">
            <a:extLst>
              <a:ext uri="{FF2B5EF4-FFF2-40B4-BE49-F238E27FC236}">
                <a16:creationId xmlns:a16="http://schemas.microsoft.com/office/drawing/2014/main" id="{17BF098E-FF16-FE84-646C-CC4C30023DC2}"/>
              </a:ext>
            </a:extLst>
          </p:cNvPr>
          <p:cNvSpPr/>
          <p:nvPr/>
        </p:nvSpPr>
        <p:spPr>
          <a:xfrm>
            <a:off x="277357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6" name="Freeform 182">
            <a:extLst>
              <a:ext uri="{FF2B5EF4-FFF2-40B4-BE49-F238E27FC236}">
                <a16:creationId xmlns:a16="http://schemas.microsoft.com/office/drawing/2014/main" id="{A4F21912-7E80-F228-ACEB-D845489C4A08}"/>
              </a:ext>
            </a:extLst>
          </p:cNvPr>
          <p:cNvSpPr/>
          <p:nvPr/>
        </p:nvSpPr>
        <p:spPr>
          <a:xfrm>
            <a:off x="277357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4CC8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7" name="Freeform 183">
            <a:extLst>
              <a:ext uri="{FF2B5EF4-FFF2-40B4-BE49-F238E27FC236}">
                <a16:creationId xmlns:a16="http://schemas.microsoft.com/office/drawing/2014/main" id="{FAA682E8-DA3D-8BD9-F55D-959A69CD0C0B}"/>
              </a:ext>
            </a:extLst>
          </p:cNvPr>
          <p:cNvSpPr/>
          <p:nvPr/>
        </p:nvSpPr>
        <p:spPr>
          <a:xfrm>
            <a:off x="277357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A5CB8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8" name="Freeform 184">
            <a:extLst>
              <a:ext uri="{FF2B5EF4-FFF2-40B4-BE49-F238E27FC236}">
                <a16:creationId xmlns:a16="http://schemas.microsoft.com/office/drawing/2014/main" id="{C59AFC11-4686-6A18-4E64-D80FFDDDD875}"/>
              </a:ext>
            </a:extLst>
          </p:cNvPr>
          <p:cNvSpPr/>
          <p:nvPr/>
        </p:nvSpPr>
        <p:spPr>
          <a:xfrm>
            <a:off x="3373512" y="122883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BDB5D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9" name="Freeform 185">
            <a:extLst>
              <a:ext uri="{FF2B5EF4-FFF2-40B4-BE49-F238E27FC236}">
                <a16:creationId xmlns:a16="http://schemas.microsoft.com/office/drawing/2014/main" id="{BAA99127-300E-DFD9-9842-1F75F33FAA2F}"/>
              </a:ext>
            </a:extLst>
          </p:cNvPr>
          <p:cNvSpPr/>
          <p:nvPr/>
        </p:nvSpPr>
        <p:spPr>
          <a:xfrm>
            <a:off x="3373512" y="1285615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BDB5D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50" name="Freeform 186">
            <a:extLst>
              <a:ext uri="{FF2B5EF4-FFF2-40B4-BE49-F238E27FC236}">
                <a16:creationId xmlns:a16="http://schemas.microsoft.com/office/drawing/2014/main" id="{22C0977D-64FE-7EE2-633B-28805E0BFFE3}"/>
              </a:ext>
            </a:extLst>
          </p:cNvPr>
          <p:cNvSpPr/>
          <p:nvPr/>
        </p:nvSpPr>
        <p:spPr>
          <a:xfrm>
            <a:off x="3373512" y="1380252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FEBC9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51" name="Freeform 187">
            <a:extLst>
              <a:ext uri="{FF2B5EF4-FFF2-40B4-BE49-F238E27FC236}">
                <a16:creationId xmlns:a16="http://schemas.microsoft.com/office/drawing/2014/main" id="{18A2D32B-B156-6227-C1D3-AD74D11856A2}"/>
              </a:ext>
            </a:extLst>
          </p:cNvPr>
          <p:cNvSpPr/>
          <p:nvPr/>
        </p:nvSpPr>
        <p:spPr>
          <a:xfrm>
            <a:off x="3373512" y="1474890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DEEBC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3298B8-3182-4A5B-B5BE-CB7FA0336186}"/>
              </a:ext>
            </a:extLst>
          </p:cNvPr>
          <p:cNvSpPr txBox="1"/>
          <p:nvPr/>
        </p:nvSpPr>
        <p:spPr>
          <a:xfrm>
            <a:off x="80855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64A46A-BA6A-91BF-B0DD-B186A31B30EF}"/>
              </a:ext>
            </a:extLst>
          </p:cNvPr>
          <p:cNvSpPr txBox="1"/>
          <p:nvPr/>
        </p:nvSpPr>
        <p:spPr>
          <a:xfrm>
            <a:off x="141513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2025</a:t>
            </a:r>
            <a:endParaRPr lang="en-DE" sz="1430" i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6E7D23-22ED-8837-997C-79B2D5F5CE74}"/>
              </a:ext>
            </a:extLst>
          </p:cNvPr>
          <p:cNvSpPr txBox="1"/>
          <p:nvPr/>
        </p:nvSpPr>
        <p:spPr>
          <a:xfrm>
            <a:off x="2021712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2030</a:t>
            </a:r>
            <a:endParaRPr lang="en-DE" sz="143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3B1F3A-EAAC-BB5E-B02C-085B54E61EE0}"/>
              </a:ext>
            </a:extLst>
          </p:cNvPr>
          <p:cNvSpPr txBox="1"/>
          <p:nvPr/>
        </p:nvSpPr>
        <p:spPr>
          <a:xfrm>
            <a:off x="2628291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2035</a:t>
            </a:r>
            <a:endParaRPr lang="en-DE" sz="1430" i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F2FEAC-F9E4-B1B6-92A0-3FCB72EEB711}"/>
              </a:ext>
            </a:extLst>
          </p:cNvPr>
          <p:cNvSpPr txBox="1"/>
          <p:nvPr/>
        </p:nvSpPr>
        <p:spPr>
          <a:xfrm>
            <a:off x="3234870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2040</a:t>
            </a:r>
            <a:endParaRPr lang="en-DE" sz="143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1D137F-E41B-A9A5-D936-DEF5BA914CF1}"/>
              </a:ext>
            </a:extLst>
          </p:cNvPr>
          <p:cNvSpPr txBox="1"/>
          <p:nvPr/>
        </p:nvSpPr>
        <p:spPr>
          <a:xfrm>
            <a:off x="888609" y="902812"/>
            <a:ext cx="694507" cy="185951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databases:</a:t>
            </a:r>
            <a:endParaRPr lang="en-DE" sz="1430" i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AC21BD-92B9-0495-38E1-D30AF2887F4F}"/>
              </a:ext>
            </a:extLst>
          </p:cNvPr>
          <p:cNvSpPr/>
          <p:nvPr/>
        </p:nvSpPr>
        <p:spPr>
          <a:xfrm>
            <a:off x="1431525" y="1141913"/>
            <a:ext cx="2345748" cy="752645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D076145-4B7C-DF30-0E78-D94265226F83}"/>
              </a:ext>
            </a:extLst>
          </p:cNvPr>
          <p:cNvSpPr/>
          <p:nvPr/>
        </p:nvSpPr>
        <p:spPr>
          <a:xfrm>
            <a:off x="3321912" y="5338328"/>
            <a:ext cx="377530" cy="480436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9CCCAC-AE89-ACE5-1A04-0A4775F4C3A1}"/>
              </a:ext>
            </a:extLst>
          </p:cNvPr>
          <p:cNvSpPr/>
          <p:nvPr/>
        </p:nvSpPr>
        <p:spPr>
          <a:xfrm>
            <a:off x="3321912" y="4549527"/>
            <a:ext cx="377530" cy="78880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GB" sz="910">
                <a:solidFill>
                  <a:schemeClr val="tx1"/>
                </a:solidFill>
              </a:rPr>
              <a:t>U</a:t>
            </a:r>
            <a:r>
              <a:rPr lang="en-DE" sz="910">
                <a:solidFill>
                  <a:schemeClr val="tx1"/>
                </a:solidFill>
              </a:rPr>
              <a:t>se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322462-B362-6EA6-1609-547023ACAA89}"/>
              </a:ext>
            </a:extLst>
          </p:cNvPr>
          <p:cNvSpPr/>
          <p:nvPr/>
        </p:nvSpPr>
        <p:spPr>
          <a:xfrm>
            <a:off x="3321912" y="4239666"/>
            <a:ext cx="377530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BBCACF-1FCB-2ECC-D21C-E21BECDDF75B}"/>
              </a:ext>
            </a:extLst>
          </p:cNvPr>
          <p:cNvSpPr/>
          <p:nvPr/>
        </p:nvSpPr>
        <p:spPr>
          <a:xfrm>
            <a:off x="928344" y="3079100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A4E14A9-78B7-F753-F1DC-E85FEDB50874}"/>
              </a:ext>
            </a:extLst>
          </p:cNvPr>
          <p:cNvSpPr/>
          <p:nvPr/>
        </p:nvSpPr>
        <p:spPr>
          <a:xfrm>
            <a:off x="928344" y="2618640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D68930F-6D4E-4394-843E-56B6681E9A69}"/>
              </a:ext>
            </a:extLst>
          </p:cNvPr>
          <p:cNvSpPr/>
          <p:nvPr/>
        </p:nvSpPr>
        <p:spPr>
          <a:xfrm>
            <a:off x="3261413" y="4093203"/>
            <a:ext cx="515860" cy="1720129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2FE616E-6E3D-DF17-03F7-9204D2C43E86}"/>
              </a:ext>
            </a:extLst>
          </p:cNvPr>
          <p:cNvSpPr/>
          <p:nvPr/>
        </p:nvSpPr>
        <p:spPr>
          <a:xfrm>
            <a:off x="859705" y="2595949"/>
            <a:ext cx="454385" cy="238209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7D559252-C90C-CC0D-F2BE-646F268FCE50}"/>
              </a:ext>
            </a:extLst>
          </p:cNvPr>
          <p:cNvSpPr/>
          <p:nvPr/>
        </p:nvSpPr>
        <p:spPr>
          <a:xfrm rot="2683291">
            <a:off x="1950408" y="1946989"/>
            <a:ext cx="120635" cy="3388400"/>
          </a:xfrm>
          <a:prstGeom prst="leftBrace">
            <a:avLst>
              <a:gd name="adj1" fmla="val 68105"/>
              <a:gd name="adj2" fmla="val 46710"/>
            </a:avLst>
          </a:prstGeom>
          <a:ln w="18161"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04302 w 204302"/>
                      <a:gd name="connsiteY0" fmla="*/ 5022361 h 5022361"/>
                      <a:gd name="connsiteX1" fmla="*/ 102151 w 204302"/>
                      <a:gd name="connsiteY1" fmla="*/ 4883221 h 5022361"/>
                      <a:gd name="connsiteX2" fmla="*/ 102151 w 204302"/>
                      <a:gd name="connsiteY2" fmla="*/ 4280338 h 5022361"/>
                      <a:gd name="connsiteX3" fmla="*/ 102151 w 204302"/>
                      <a:gd name="connsiteY3" fmla="*/ 3744441 h 5022361"/>
                      <a:gd name="connsiteX4" fmla="*/ 102151 w 204302"/>
                      <a:gd name="connsiteY4" fmla="*/ 3230874 h 5022361"/>
                      <a:gd name="connsiteX5" fmla="*/ 102151 w 204302"/>
                      <a:gd name="connsiteY5" fmla="*/ 2650320 h 5022361"/>
                      <a:gd name="connsiteX6" fmla="*/ 0 w 204302"/>
                      <a:gd name="connsiteY6" fmla="*/ 2511180 h 5022361"/>
                      <a:gd name="connsiteX7" fmla="*/ 102151 w 204302"/>
                      <a:gd name="connsiteY7" fmla="*/ 2372040 h 5022361"/>
                      <a:gd name="connsiteX8" fmla="*/ 102151 w 204302"/>
                      <a:gd name="connsiteY8" fmla="*/ 1769157 h 5022361"/>
                      <a:gd name="connsiteX9" fmla="*/ 102151 w 204302"/>
                      <a:gd name="connsiteY9" fmla="*/ 1255590 h 5022361"/>
                      <a:gd name="connsiteX10" fmla="*/ 102151 w 204302"/>
                      <a:gd name="connsiteY10" fmla="*/ 697365 h 5022361"/>
                      <a:gd name="connsiteX11" fmla="*/ 102151 w 204302"/>
                      <a:gd name="connsiteY11" fmla="*/ 139140 h 5022361"/>
                      <a:gd name="connsiteX12" fmla="*/ 204302 w 204302"/>
                      <a:gd name="connsiteY12" fmla="*/ 0 h 5022361"/>
                      <a:gd name="connsiteX13" fmla="*/ 204302 w 204302"/>
                      <a:gd name="connsiteY13" fmla="*/ 577572 h 5022361"/>
                      <a:gd name="connsiteX14" fmla="*/ 204302 w 204302"/>
                      <a:gd name="connsiteY14" fmla="*/ 1205367 h 5022361"/>
                      <a:gd name="connsiteX15" fmla="*/ 204302 w 204302"/>
                      <a:gd name="connsiteY15" fmla="*/ 1883385 h 5022361"/>
                      <a:gd name="connsiteX16" fmla="*/ 204302 w 204302"/>
                      <a:gd name="connsiteY16" fmla="*/ 2561404 h 5022361"/>
                      <a:gd name="connsiteX17" fmla="*/ 204302 w 204302"/>
                      <a:gd name="connsiteY17" fmla="*/ 3239423 h 5022361"/>
                      <a:gd name="connsiteX18" fmla="*/ 204302 w 204302"/>
                      <a:gd name="connsiteY18" fmla="*/ 3716547 h 5022361"/>
                      <a:gd name="connsiteX19" fmla="*/ 204302 w 204302"/>
                      <a:gd name="connsiteY19" fmla="*/ 4243895 h 5022361"/>
                      <a:gd name="connsiteX20" fmla="*/ 204302 w 204302"/>
                      <a:gd name="connsiteY20" fmla="*/ 5022361 h 5022361"/>
                      <a:gd name="connsiteX0" fmla="*/ 204302 w 204302"/>
                      <a:gd name="connsiteY0" fmla="*/ 5022361 h 5022361"/>
                      <a:gd name="connsiteX1" fmla="*/ 102151 w 204302"/>
                      <a:gd name="connsiteY1" fmla="*/ 4883221 h 5022361"/>
                      <a:gd name="connsiteX2" fmla="*/ 102151 w 204302"/>
                      <a:gd name="connsiteY2" fmla="*/ 4324996 h 5022361"/>
                      <a:gd name="connsiteX3" fmla="*/ 102151 w 204302"/>
                      <a:gd name="connsiteY3" fmla="*/ 3766771 h 5022361"/>
                      <a:gd name="connsiteX4" fmla="*/ 102151 w 204302"/>
                      <a:gd name="connsiteY4" fmla="*/ 3208545 h 5022361"/>
                      <a:gd name="connsiteX5" fmla="*/ 102151 w 204302"/>
                      <a:gd name="connsiteY5" fmla="*/ 2650320 h 5022361"/>
                      <a:gd name="connsiteX6" fmla="*/ 0 w 204302"/>
                      <a:gd name="connsiteY6" fmla="*/ 2511180 h 5022361"/>
                      <a:gd name="connsiteX7" fmla="*/ 102151 w 204302"/>
                      <a:gd name="connsiteY7" fmla="*/ 2372040 h 5022361"/>
                      <a:gd name="connsiteX8" fmla="*/ 102151 w 204302"/>
                      <a:gd name="connsiteY8" fmla="*/ 1791486 h 5022361"/>
                      <a:gd name="connsiteX9" fmla="*/ 102151 w 204302"/>
                      <a:gd name="connsiteY9" fmla="*/ 1210932 h 5022361"/>
                      <a:gd name="connsiteX10" fmla="*/ 102151 w 204302"/>
                      <a:gd name="connsiteY10" fmla="*/ 697365 h 5022361"/>
                      <a:gd name="connsiteX11" fmla="*/ 102151 w 204302"/>
                      <a:gd name="connsiteY11" fmla="*/ 139140 h 5022361"/>
                      <a:gd name="connsiteX12" fmla="*/ 204302 w 204302"/>
                      <a:gd name="connsiteY12" fmla="*/ 0 h 50223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4302" h="5022361" stroke="0" extrusionOk="0">
                        <a:moveTo>
                          <a:pt x="204302" y="5022361"/>
                        </a:moveTo>
                        <a:cubicBezTo>
                          <a:pt x="141323" y="5018313"/>
                          <a:pt x="96126" y="4962327"/>
                          <a:pt x="102151" y="4883221"/>
                        </a:cubicBezTo>
                        <a:cubicBezTo>
                          <a:pt x="109126" y="4722217"/>
                          <a:pt x="103119" y="4489146"/>
                          <a:pt x="102151" y="4280338"/>
                        </a:cubicBezTo>
                        <a:cubicBezTo>
                          <a:pt x="101183" y="4071530"/>
                          <a:pt x="128230" y="3873400"/>
                          <a:pt x="102151" y="3744441"/>
                        </a:cubicBezTo>
                        <a:cubicBezTo>
                          <a:pt x="76072" y="3615482"/>
                          <a:pt x="125625" y="3428750"/>
                          <a:pt x="102151" y="3230874"/>
                        </a:cubicBezTo>
                        <a:cubicBezTo>
                          <a:pt x="78677" y="3032998"/>
                          <a:pt x="85140" y="2851719"/>
                          <a:pt x="102151" y="2650320"/>
                        </a:cubicBezTo>
                        <a:cubicBezTo>
                          <a:pt x="108234" y="2560955"/>
                          <a:pt x="51999" y="2510504"/>
                          <a:pt x="0" y="2511180"/>
                        </a:cubicBezTo>
                        <a:cubicBezTo>
                          <a:pt x="51926" y="2515407"/>
                          <a:pt x="101168" y="2439511"/>
                          <a:pt x="102151" y="2372040"/>
                        </a:cubicBezTo>
                        <a:cubicBezTo>
                          <a:pt x="93195" y="2143609"/>
                          <a:pt x="73369" y="1902227"/>
                          <a:pt x="102151" y="1769157"/>
                        </a:cubicBezTo>
                        <a:cubicBezTo>
                          <a:pt x="130933" y="1636087"/>
                          <a:pt x="95709" y="1487716"/>
                          <a:pt x="102151" y="1255590"/>
                        </a:cubicBezTo>
                        <a:cubicBezTo>
                          <a:pt x="108593" y="1023464"/>
                          <a:pt x="100361" y="859566"/>
                          <a:pt x="102151" y="697365"/>
                        </a:cubicBezTo>
                        <a:cubicBezTo>
                          <a:pt x="103941" y="535164"/>
                          <a:pt x="109151" y="329392"/>
                          <a:pt x="102151" y="139140"/>
                        </a:cubicBezTo>
                        <a:cubicBezTo>
                          <a:pt x="108142" y="71523"/>
                          <a:pt x="153918" y="7389"/>
                          <a:pt x="204302" y="0"/>
                        </a:cubicBezTo>
                        <a:cubicBezTo>
                          <a:pt x="193885" y="126141"/>
                          <a:pt x="224613" y="302787"/>
                          <a:pt x="204302" y="577572"/>
                        </a:cubicBezTo>
                        <a:cubicBezTo>
                          <a:pt x="183991" y="852357"/>
                          <a:pt x="223390" y="1058622"/>
                          <a:pt x="204302" y="1205367"/>
                        </a:cubicBezTo>
                        <a:cubicBezTo>
                          <a:pt x="185214" y="1352113"/>
                          <a:pt x="209747" y="1570025"/>
                          <a:pt x="204302" y="1883385"/>
                        </a:cubicBezTo>
                        <a:cubicBezTo>
                          <a:pt x="198857" y="2196745"/>
                          <a:pt x="174896" y="2268391"/>
                          <a:pt x="204302" y="2561404"/>
                        </a:cubicBezTo>
                        <a:cubicBezTo>
                          <a:pt x="233708" y="2854417"/>
                          <a:pt x="205465" y="2932225"/>
                          <a:pt x="204302" y="3239423"/>
                        </a:cubicBezTo>
                        <a:cubicBezTo>
                          <a:pt x="203139" y="3546621"/>
                          <a:pt x="189334" y="3582048"/>
                          <a:pt x="204302" y="3716547"/>
                        </a:cubicBezTo>
                        <a:cubicBezTo>
                          <a:pt x="219270" y="3851046"/>
                          <a:pt x="195534" y="4110661"/>
                          <a:pt x="204302" y="4243895"/>
                        </a:cubicBezTo>
                        <a:cubicBezTo>
                          <a:pt x="213070" y="4377129"/>
                          <a:pt x="197291" y="4647520"/>
                          <a:pt x="204302" y="5022361"/>
                        </a:cubicBezTo>
                        <a:close/>
                      </a:path>
                      <a:path w="204302" h="5022361" fill="none" extrusionOk="0">
                        <a:moveTo>
                          <a:pt x="204302" y="5022361"/>
                        </a:moveTo>
                        <a:cubicBezTo>
                          <a:pt x="135232" y="5023036"/>
                          <a:pt x="106657" y="4968988"/>
                          <a:pt x="102151" y="4883221"/>
                        </a:cubicBezTo>
                        <a:cubicBezTo>
                          <a:pt x="128431" y="4750468"/>
                          <a:pt x="94713" y="4549066"/>
                          <a:pt x="102151" y="4324996"/>
                        </a:cubicBezTo>
                        <a:cubicBezTo>
                          <a:pt x="109589" y="4100927"/>
                          <a:pt x="112551" y="4027427"/>
                          <a:pt x="102151" y="3766771"/>
                        </a:cubicBezTo>
                        <a:cubicBezTo>
                          <a:pt x="91751" y="3506116"/>
                          <a:pt x="105968" y="3377005"/>
                          <a:pt x="102151" y="3208545"/>
                        </a:cubicBezTo>
                        <a:cubicBezTo>
                          <a:pt x="98334" y="3040085"/>
                          <a:pt x="100497" y="2794357"/>
                          <a:pt x="102151" y="2650320"/>
                        </a:cubicBezTo>
                        <a:cubicBezTo>
                          <a:pt x="106435" y="2574817"/>
                          <a:pt x="56307" y="2508921"/>
                          <a:pt x="0" y="2511180"/>
                        </a:cubicBezTo>
                        <a:cubicBezTo>
                          <a:pt x="69870" y="2519656"/>
                          <a:pt x="100136" y="2449327"/>
                          <a:pt x="102151" y="2372040"/>
                        </a:cubicBezTo>
                        <a:cubicBezTo>
                          <a:pt x="74128" y="2089301"/>
                          <a:pt x="75826" y="1946528"/>
                          <a:pt x="102151" y="1791486"/>
                        </a:cubicBezTo>
                        <a:cubicBezTo>
                          <a:pt x="128476" y="1636444"/>
                          <a:pt x="98610" y="1443951"/>
                          <a:pt x="102151" y="1210932"/>
                        </a:cubicBezTo>
                        <a:cubicBezTo>
                          <a:pt x="105692" y="977913"/>
                          <a:pt x="96820" y="886318"/>
                          <a:pt x="102151" y="697365"/>
                        </a:cubicBezTo>
                        <a:cubicBezTo>
                          <a:pt x="107482" y="508412"/>
                          <a:pt x="99951" y="259321"/>
                          <a:pt x="102151" y="139140"/>
                        </a:cubicBezTo>
                        <a:cubicBezTo>
                          <a:pt x="104070" y="67495"/>
                          <a:pt x="152669" y="-949"/>
                          <a:pt x="204302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0A25D1-B2C1-3B1E-FE97-8D44CA59D68C}"/>
              </a:ext>
            </a:extLst>
          </p:cNvPr>
          <p:cNvSpPr txBox="1"/>
          <p:nvPr/>
        </p:nvSpPr>
        <p:spPr>
          <a:xfrm>
            <a:off x="1484318" y="2120857"/>
            <a:ext cx="977397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‘Dynamic’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D66439-748D-A474-1B58-D7551633D24D}"/>
              </a:ext>
            </a:extLst>
          </p:cNvPr>
          <p:cNvGrpSpPr/>
          <p:nvPr/>
        </p:nvGrpSpPr>
        <p:grpSpPr>
          <a:xfrm>
            <a:off x="5426846" y="1175596"/>
            <a:ext cx="5778875" cy="5061716"/>
            <a:chOff x="5426846" y="1038268"/>
            <a:chExt cx="5778875" cy="5061716"/>
          </a:xfrm>
        </p:grpSpPr>
        <p:pic>
          <p:nvPicPr>
            <p:cNvPr id="69" name="Graphic 68" descr="Arrow circle outline">
              <a:extLst>
                <a:ext uri="{FF2B5EF4-FFF2-40B4-BE49-F238E27FC236}">
                  <a16:creationId xmlns:a16="http://schemas.microsoft.com/office/drawing/2014/main" id="{D95E00BE-CA30-6937-C594-ABEA1E51D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056" t="6363" r="18993" b="65383"/>
            <a:stretch/>
          </p:blipFill>
          <p:spPr>
            <a:xfrm>
              <a:off x="7264641" y="2320639"/>
              <a:ext cx="2537783" cy="1237335"/>
            </a:xfrm>
            <a:prstGeom prst="rect">
              <a:avLst/>
            </a:prstGeom>
          </p:spPr>
        </p:pic>
        <p:pic>
          <p:nvPicPr>
            <p:cNvPr id="70" name="Graphic 69" descr="Arrow circle outline">
              <a:extLst>
                <a:ext uri="{FF2B5EF4-FFF2-40B4-BE49-F238E27FC236}">
                  <a16:creationId xmlns:a16="http://schemas.microsoft.com/office/drawing/2014/main" id="{439AAC44-224E-22F5-0287-E63E0BB1F7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1293" t="35547" r="12838" b="11906"/>
            <a:stretch/>
          </p:blipFill>
          <p:spPr>
            <a:xfrm>
              <a:off x="8534008" y="3633236"/>
              <a:ext cx="1570813" cy="2301190"/>
            </a:xfrm>
            <a:prstGeom prst="rect">
              <a:avLst/>
            </a:prstGeom>
          </p:spPr>
        </p:pic>
        <p:pic>
          <p:nvPicPr>
            <p:cNvPr id="71" name="Graphic 70" descr="Arrow circle outline">
              <a:extLst>
                <a:ext uri="{FF2B5EF4-FFF2-40B4-BE49-F238E27FC236}">
                  <a16:creationId xmlns:a16="http://schemas.microsoft.com/office/drawing/2014/main" id="{61ACBEC8-7DB4-FD96-21E2-048BFBDE83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0169" t="35547" r="49151" b="11906"/>
            <a:stretch/>
          </p:blipFill>
          <p:spPr>
            <a:xfrm>
              <a:off x="6809476" y="3633236"/>
              <a:ext cx="1781520" cy="2301190"/>
            </a:xfrm>
            <a:prstGeom prst="rect">
              <a:avLst/>
            </a:prstGeom>
          </p:spPr>
        </p:pic>
        <p:pic>
          <p:nvPicPr>
            <p:cNvPr id="72" name="Graphic 71" descr="Electric car with solid fill">
              <a:extLst>
                <a:ext uri="{FF2B5EF4-FFF2-40B4-BE49-F238E27FC236}">
                  <a16:creationId xmlns:a16="http://schemas.microsoft.com/office/drawing/2014/main" id="{DBE3AA2F-82EA-558C-1B21-249D307864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08098" y="3418959"/>
              <a:ext cx="1565796" cy="1565792"/>
            </a:xfrm>
            <a:prstGeom prst="rect">
              <a:avLst/>
            </a:prstGeom>
          </p:spPr>
        </p:pic>
        <p:pic>
          <p:nvPicPr>
            <p:cNvPr id="73" name="Graphic 72" descr="Rubbish with solid fill">
              <a:extLst>
                <a:ext uri="{FF2B5EF4-FFF2-40B4-BE49-F238E27FC236}">
                  <a16:creationId xmlns:a16="http://schemas.microsoft.com/office/drawing/2014/main" id="{0C41D3BF-C654-4680-83F1-E9EF9599B6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50293" y="4301085"/>
              <a:ext cx="988883" cy="988883"/>
            </a:xfrm>
            <a:prstGeom prst="rect">
              <a:avLst/>
            </a:prstGeom>
          </p:spPr>
        </p:pic>
        <p:pic>
          <p:nvPicPr>
            <p:cNvPr id="74" name="Graphic 73" descr="Robot Hand with solid fill">
              <a:extLst>
                <a:ext uri="{FF2B5EF4-FFF2-40B4-BE49-F238E27FC236}">
                  <a16:creationId xmlns:a16="http://schemas.microsoft.com/office/drawing/2014/main" id="{C9CA7B84-4DCF-E6D5-EAC5-10450805F1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519" y="4153746"/>
              <a:ext cx="1251081" cy="1251077"/>
            </a:xfrm>
            <a:prstGeom prst="rect">
              <a:avLst/>
            </a:prstGeom>
          </p:spPr>
        </p:pic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809ACE2-DDBC-954A-6EC1-2AEB852A2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39757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909A39-F709-2C20-AD0D-5EB2120C27ED}"/>
                </a:ext>
              </a:extLst>
            </p:cNvPr>
            <p:cNvSpPr txBox="1"/>
            <p:nvPr/>
          </p:nvSpPr>
          <p:spPr>
            <a:xfrm>
              <a:off x="5426846" y="5268987"/>
              <a:ext cx="184537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  <a:p>
              <a:pPr algn="ctr"/>
              <a:r>
                <a:rPr lang="en-DE" sz="2400" b="1">
                  <a:solidFill>
                    <a:srgbClr val="58AB27"/>
                  </a:solidFill>
                </a:rPr>
                <a:t>2020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551A564-97A6-CDF3-EE3C-184B12CE413C}"/>
                </a:ext>
              </a:extLst>
            </p:cNvPr>
            <p:cNvSpPr txBox="1"/>
            <p:nvPr/>
          </p:nvSpPr>
          <p:spPr>
            <a:xfrm>
              <a:off x="7645168" y="2009588"/>
              <a:ext cx="16594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use</a:t>
              </a:r>
            </a:p>
            <a:p>
              <a:pPr algn="ctr"/>
              <a:r>
                <a:rPr lang="en-DE" sz="2400" b="1">
                  <a:solidFill>
                    <a:srgbClr val="F8A800"/>
                  </a:solidFill>
                </a:rPr>
                <a:t>2025-2035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B0E77E1-3356-2424-F711-977371AE4C3D}"/>
                </a:ext>
              </a:extLst>
            </p:cNvPr>
            <p:cNvSpPr txBox="1"/>
            <p:nvPr/>
          </p:nvSpPr>
          <p:spPr>
            <a:xfrm>
              <a:off x="9685753" y="5264801"/>
              <a:ext cx="15199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  <a:p>
              <a:pPr algn="ctr"/>
              <a:r>
                <a:rPr lang="en-DE" sz="2400" b="1">
                  <a:solidFill>
                    <a:srgbClr val="7A6FAC"/>
                  </a:solidFill>
                </a:rPr>
                <a:t>2040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85EDAAE-D662-E06B-F8BC-83C6FAA2E929}"/>
                </a:ext>
              </a:extLst>
            </p:cNvPr>
            <p:cNvGrpSpPr/>
            <p:nvPr/>
          </p:nvGrpSpPr>
          <p:grpSpPr>
            <a:xfrm>
              <a:off x="7944979" y="1038268"/>
              <a:ext cx="1057795" cy="1057795"/>
              <a:chOff x="5612672" y="2701719"/>
              <a:chExt cx="504826" cy="504826"/>
            </a:xfrm>
          </p:grpSpPr>
          <p:pic>
            <p:nvPicPr>
              <p:cNvPr id="80" name="Graphic 79" descr="Power Plant with solid fill">
                <a:extLst>
                  <a:ext uri="{FF2B5EF4-FFF2-40B4-BE49-F238E27FC236}">
                    <a16:creationId xmlns:a16="http://schemas.microsoft.com/office/drawing/2014/main" id="{0E01DCFD-1D34-C068-1CFB-767CAEAE6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2672" y="2701719"/>
                <a:ext cx="504826" cy="504826"/>
              </a:xfrm>
              <a:prstGeom prst="rect">
                <a:avLst/>
              </a:prstGeom>
            </p:spPr>
          </p:pic>
          <p:pic>
            <p:nvPicPr>
              <p:cNvPr id="81" name="Graphic 80" descr="Lightning bolt with solid fill">
                <a:extLst>
                  <a:ext uri="{FF2B5EF4-FFF2-40B4-BE49-F238E27FC236}">
                    <a16:creationId xmlns:a16="http://schemas.microsoft.com/office/drawing/2014/main" id="{41B8A25F-5E4F-5A52-6F7D-85E9C1547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48798" y="2931846"/>
                <a:ext cx="232573" cy="232573"/>
              </a:xfrm>
              <a:prstGeom prst="rect">
                <a:avLst/>
              </a:prstGeom>
            </p:spPr>
          </p:pic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11D54FBB-A9CC-E52A-4E3C-8EC134189D2A}"/>
              </a:ext>
            </a:extLst>
          </p:cNvPr>
          <p:cNvSpPr txBox="1"/>
          <p:nvPr/>
        </p:nvSpPr>
        <p:spPr>
          <a:xfrm>
            <a:off x="4410295" y="3050668"/>
            <a:ext cx="2183262" cy="615553"/>
          </a:xfrm>
          <a:prstGeom prst="rect">
            <a:avLst/>
          </a:prstGeom>
          <a:noFill/>
          <a:ln w="25400">
            <a:solidFill>
              <a:srgbClr val="000073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Dynamic impact assessment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AACE6B-E3A4-97A3-2435-1E225E6CCC66}"/>
              </a:ext>
            </a:extLst>
          </p:cNvPr>
          <p:cNvSpPr txBox="1"/>
          <p:nvPr/>
        </p:nvSpPr>
        <p:spPr>
          <a:xfrm>
            <a:off x="4062815" y="3279288"/>
            <a:ext cx="4042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3600"/>
              <a:t>+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A0EB61D5-714A-F416-ED8A-620860F0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3BB9C-BADD-7E91-B12D-5120003A074E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5C9050-A0B1-83EC-25AE-D36BFC79E995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16835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2F8C8-21AE-66B0-B816-C4B7EFA7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A6D82-B525-1948-84C6-E5C1927D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A79BBC-EE3B-45DE-F0A9-B26C7637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Time-explicit LCA: </a:t>
            </a:r>
            <a:r>
              <a:rPr lang="en-GB" b="0" i="1"/>
              <a:t>“Temporal distribution + evolution”</a:t>
            </a:r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27220BA-9D03-6929-328D-0895644308DE}"/>
              </a:ext>
            </a:extLst>
          </p:cNvPr>
          <p:cNvGrpSpPr/>
          <p:nvPr/>
        </p:nvGrpSpPr>
        <p:grpSpPr>
          <a:xfrm>
            <a:off x="5426846" y="1087631"/>
            <a:ext cx="5778875" cy="5149681"/>
            <a:chOff x="5426846" y="947346"/>
            <a:chExt cx="5778875" cy="514968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05F673F-A339-A9A1-5870-4F97FE00B9A6}"/>
                </a:ext>
              </a:extLst>
            </p:cNvPr>
            <p:cNvGrpSpPr/>
            <p:nvPr/>
          </p:nvGrpSpPr>
          <p:grpSpPr>
            <a:xfrm>
              <a:off x="7272223" y="2321862"/>
              <a:ext cx="2797328" cy="1233155"/>
              <a:chOff x="7272223" y="1527020"/>
              <a:chExt cx="2207117" cy="972970"/>
            </a:xfrm>
          </p:grpSpPr>
          <p:pic>
            <p:nvPicPr>
              <p:cNvPr id="38" name="Graphic 37" descr="Arrow circle outline">
                <a:extLst>
                  <a:ext uri="{FF2B5EF4-FFF2-40B4-BE49-F238E27FC236}">
                    <a16:creationId xmlns:a16="http://schemas.microsoft.com/office/drawing/2014/main" id="{EF1A20CF-C18A-CAF7-9269-68A4C82131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23055" t="6363" r="58020" b="65383"/>
              <a:stretch/>
            </p:blipFill>
            <p:spPr>
              <a:xfrm>
                <a:off x="7272223" y="1528851"/>
                <a:ext cx="650464" cy="971139"/>
              </a:xfrm>
              <a:prstGeom prst="rect">
                <a:avLst/>
              </a:prstGeom>
            </p:spPr>
          </p:pic>
          <p:pic>
            <p:nvPicPr>
              <p:cNvPr id="39" name="Graphic 38" descr="Arrow circle outline">
                <a:extLst>
                  <a:ext uri="{FF2B5EF4-FFF2-40B4-BE49-F238E27FC236}">
                    <a16:creationId xmlns:a16="http://schemas.microsoft.com/office/drawing/2014/main" id="{350CE62D-8E3D-DD56-3F29-694718BAB7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43381" t="6363" r="40072" b="65383"/>
              <a:stretch/>
            </p:blipFill>
            <p:spPr>
              <a:xfrm>
                <a:off x="7974492" y="1527335"/>
                <a:ext cx="568750" cy="971139"/>
              </a:xfrm>
              <a:prstGeom prst="rect">
                <a:avLst/>
              </a:prstGeom>
            </p:spPr>
          </p:pic>
          <p:pic>
            <p:nvPicPr>
              <p:cNvPr id="40" name="Graphic 39" descr="Arrow circle outline">
                <a:extLst>
                  <a:ext uri="{FF2B5EF4-FFF2-40B4-BE49-F238E27FC236}">
                    <a16:creationId xmlns:a16="http://schemas.microsoft.com/office/drawing/2014/main" id="{FC0B8ECE-CEAA-49E6-0CD6-5EC92D0054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61581" t="6363" r="12838" b="65383"/>
              <a:stretch/>
            </p:blipFill>
            <p:spPr>
              <a:xfrm>
                <a:off x="8600059" y="1527020"/>
                <a:ext cx="879281" cy="971139"/>
              </a:xfrm>
              <a:prstGeom prst="rect">
                <a:avLst/>
              </a:prstGeom>
            </p:spPr>
          </p:pic>
        </p:grpSp>
        <p:pic>
          <p:nvPicPr>
            <p:cNvPr id="10" name="Graphic 9" descr="Arrow circle outline">
              <a:extLst>
                <a:ext uri="{FF2B5EF4-FFF2-40B4-BE49-F238E27FC236}">
                  <a16:creationId xmlns:a16="http://schemas.microsoft.com/office/drawing/2014/main" id="{8DEA48B3-43B2-0460-A62C-FC4D40390D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51293" t="35547" r="12838" b="11906"/>
            <a:stretch/>
          </p:blipFill>
          <p:spPr>
            <a:xfrm>
              <a:off x="8534008" y="3630279"/>
              <a:ext cx="1570813" cy="2301190"/>
            </a:xfrm>
            <a:prstGeom prst="rect">
              <a:avLst/>
            </a:prstGeom>
          </p:spPr>
        </p:pic>
        <p:pic>
          <p:nvPicPr>
            <p:cNvPr id="11" name="Graphic 10" descr="Arrow circle outline">
              <a:extLst>
                <a:ext uri="{FF2B5EF4-FFF2-40B4-BE49-F238E27FC236}">
                  <a16:creationId xmlns:a16="http://schemas.microsoft.com/office/drawing/2014/main" id="{2B4BC0D4-1A91-836C-E320-6E196551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0169" t="35547" r="49151" b="11906"/>
            <a:stretch/>
          </p:blipFill>
          <p:spPr>
            <a:xfrm>
              <a:off x="6809476" y="3630279"/>
              <a:ext cx="1781520" cy="2301190"/>
            </a:xfrm>
            <a:prstGeom prst="rect">
              <a:avLst/>
            </a:prstGeom>
          </p:spPr>
        </p:pic>
        <p:pic>
          <p:nvPicPr>
            <p:cNvPr id="12" name="Graphic 11" descr="Electric car with solid fill">
              <a:extLst>
                <a:ext uri="{FF2B5EF4-FFF2-40B4-BE49-F238E27FC236}">
                  <a16:creationId xmlns:a16="http://schemas.microsoft.com/office/drawing/2014/main" id="{6FE325A2-0136-A1F2-25BB-19BE4E21EA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8098" y="3416002"/>
              <a:ext cx="1565796" cy="1565792"/>
            </a:xfrm>
            <a:prstGeom prst="rect">
              <a:avLst/>
            </a:prstGeom>
          </p:spPr>
        </p:pic>
        <p:pic>
          <p:nvPicPr>
            <p:cNvPr id="13" name="Graphic 12" descr="Rubbish with solid fill">
              <a:extLst>
                <a:ext uri="{FF2B5EF4-FFF2-40B4-BE49-F238E27FC236}">
                  <a16:creationId xmlns:a16="http://schemas.microsoft.com/office/drawing/2014/main" id="{315334D3-5EEB-3982-2B17-A76C734B0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50293" y="4298128"/>
              <a:ext cx="988883" cy="988883"/>
            </a:xfrm>
            <a:prstGeom prst="rect">
              <a:avLst/>
            </a:prstGeom>
          </p:spPr>
        </p:pic>
        <p:pic>
          <p:nvPicPr>
            <p:cNvPr id="14" name="Graphic 13" descr="Robot Hand with solid fill">
              <a:extLst>
                <a:ext uri="{FF2B5EF4-FFF2-40B4-BE49-F238E27FC236}">
                  <a16:creationId xmlns:a16="http://schemas.microsoft.com/office/drawing/2014/main" id="{C4569BD5-E98A-7A8F-23DD-F951BA1209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21519" y="4150789"/>
              <a:ext cx="1251081" cy="125107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0E46B8D-05F2-7369-BFCB-2ACD598CF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36800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EB37CB-121E-0622-469B-A972C4C2900E}"/>
                </a:ext>
              </a:extLst>
            </p:cNvPr>
            <p:cNvSpPr txBox="1"/>
            <p:nvPr/>
          </p:nvSpPr>
          <p:spPr>
            <a:xfrm>
              <a:off x="5426846" y="5266030"/>
              <a:ext cx="184537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  <a:p>
              <a:pPr algn="ctr"/>
              <a:r>
                <a:rPr lang="en-DE" sz="2400" b="1">
                  <a:solidFill>
                    <a:srgbClr val="58AB27"/>
                  </a:solidFill>
                </a:rPr>
                <a:t>2020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FFCCD7-CDB1-C235-CB8F-107DB384A794}"/>
                </a:ext>
              </a:extLst>
            </p:cNvPr>
            <p:cNvSpPr txBox="1"/>
            <p:nvPr/>
          </p:nvSpPr>
          <p:spPr>
            <a:xfrm>
              <a:off x="9685753" y="5261844"/>
              <a:ext cx="15199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  <a:p>
              <a:pPr algn="ctr"/>
              <a:r>
                <a:rPr lang="en-DE" sz="2400" b="1">
                  <a:solidFill>
                    <a:srgbClr val="7A6FAC"/>
                  </a:solidFill>
                </a:rPr>
                <a:t>2040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3CEEE96-C02C-19F3-2D51-221D2180481D}"/>
                </a:ext>
              </a:extLst>
            </p:cNvPr>
            <p:cNvGrpSpPr/>
            <p:nvPr/>
          </p:nvGrpSpPr>
          <p:grpSpPr>
            <a:xfrm>
              <a:off x="5819881" y="1712108"/>
              <a:ext cx="998393" cy="998393"/>
              <a:chOff x="5612672" y="2701719"/>
              <a:chExt cx="504826" cy="504826"/>
            </a:xfrm>
          </p:grpSpPr>
          <p:pic>
            <p:nvPicPr>
              <p:cNvPr id="36" name="Graphic 35" descr="Power Plant with solid fill">
                <a:extLst>
                  <a:ext uri="{FF2B5EF4-FFF2-40B4-BE49-F238E27FC236}">
                    <a16:creationId xmlns:a16="http://schemas.microsoft.com/office/drawing/2014/main" id="{89EE73DD-BBB8-6C96-5209-EFB132A0C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2672" y="2701719"/>
                <a:ext cx="504826" cy="504826"/>
              </a:xfrm>
              <a:prstGeom prst="rect">
                <a:avLst/>
              </a:prstGeom>
            </p:spPr>
          </p:pic>
          <p:pic>
            <p:nvPicPr>
              <p:cNvPr id="37" name="Graphic 36" descr="Lightning bolt with solid fill">
                <a:extLst>
                  <a:ext uri="{FF2B5EF4-FFF2-40B4-BE49-F238E27FC236}">
                    <a16:creationId xmlns:a16="http://schemas.microsoft.com/office/drawing/2014/main" id="{D2DBE7C8-7CE8-518A-5856-1E3A9269D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748798" y="2931846"/>
                <a:ext cx="232573" cy="232573"/>
              </a:xfrm>
              <a:prstGeom prst="rect">
                <a:avLst/>
              </a:prstGeom>
            </p:spPr>
          </p:pic>
        </p:grpSp>
        <p:pic>
          <p:nvPicPr>
            <p:cNvPr id="19" name="Graphic 18" descr="Wind Turbines with solid fill">
              <a:extLst>
                <a:ext uri="{FF2B5EF4-FFF2-40B4-BE49-F238E27FC236}">
                  <a16:creationId xmlns:a16="http://schemas.microsoft.com/office/drawing/2014/main" id="{60AB0C0E-04A5-6023-A377-9C9FE020C3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9738090" y="1419194"/>
              <a:ext cx="1050196" cy="1050193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3BB8AD6-110F-B128-0F90-9F40653D1E71}"/>
                </a:ext>
              </a:extLst>
            </p:cNvPr>
            <p:cNvGrpSpPr/>
            <p:nvPr/>
          </p:nvGrpSpPr>
          <p:grpSpPr>
            <a:xfrm>
              <a:off x="7940308" y="947346"/>
              <a:ext cx="1146238" cy="964022"/>
              <a:chOff x="8162287" y="1353639"/>
              <a:chExt cx="646349" cy="54360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6636B18-843D-6A58-A036-D0617AF8F2B5}"/>
                  </a:ext>
                </a:extLst>
              </p:cNvPr>
              <p:cNvGrpSpPr/>
              <p:nvPr/>
            </p:nvGrpSpPr>
            <p:grpSpPr>
              <a:xfrm>
                <a:off x="8162287" y="1353639"/>
                <a:ext cx="646349" cy="543600"/>
                <a:chOff x="8162288" y="1408657"/>
                <a:chExt cx="580932" cy="488582"/>
              </a:xfrm>
            </p:grpSpPr>
            <p:pic>
              <p:nvPicPr>
                <p:cNvPr id="29" name="Graphic 28" descr="Power Plant with solid fill">
                  <a:extLst>
                    <a:ext uri="{FF2B5EF4-FFF2-40B4-BE49-F238E27FC236}">
                      <a16:creationId xmlns:a16="http://schemas.microsoft.com/office/drawing/2014/main" id="{18C89D06-E72F-603F-38AE-D87BF3BEF2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2288" y="1565048"/>
                  <a:ext cx="332191" cy="332191"/>
                </a:xfrm>
                <a:prstGeom prst="rect">
                  <a:avLst/>
                </a:prstGeom>
              </p:spPr>
            </p:pic>
            <p:pic>
              <p:nvPicPr>
                <p:cNvPr id="30" name="Graphic 29" descr="Lightning bolt with solid fill">
                  <a:extLst>
                    <a:ext uri="{FF2B5EF4-FFF2-40B4-BE49-F238E27FC236}">
                      <a16:creationId xmlns:a16="http://schemas.microsoft.com/office/drawing/2014/main" id="{6A14E681-F78B-306B-202E-11106674ED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51863" y="1716479"/>
                  <a:ext cx="153040" cy="153040"/>
                </a:xfrm>
                <a:prstGeom prst="rect">
                  <a:avLst/>
                </a:prstGeom>
              </p:spPr>
            </p:pic>
            <p:sp>
              <p:nvSpPr>
                <p:cNvPr id="31" name="Freeform 21">
                  <a:extLst>
                    <a:ext uri="{FF2B5EF4-FFF2-40B4-BE49-F238E27FC236}">
                      <a16:creationId xmlns:a16="http://schemas.microsoft.com/office/drawing/2014/main" id="{50ADBCEC-D45E-14B5-437B-64030667BCDC}"/>
                    </a:ext>
                  </a:extLst>
                </p:cNvPr>
                <p:cNvSpPr/>
                <p:nvPr/>
              </p:nvSpPr>
              <p:spPr>
                <a:xfrm>
                  <a:off x="8541563" y="1606291"/>
                  <a:ext cx="108212" cy="276559"/>
                </a:xfrm>
                <a:custGeom>
                  <a:avLst/>
                  <a:gdLst>
                    <a:gd name="connsiteX0" fmla="*/ 68093 w 120844"/>
                    <a:gd name="connsiteY0" fmla="*/ 0 h 308842"/>
                    <a:gd name="connsiteX1" fmla="*/ 37116 w 120844"/>
                    <a:gd name="connsiteY1" fmla="*/ 22350 h 308842"/>
                    <a:gd name="connsiteX2" fmla="*/ 24152 w 120844"/>
                    <a:gd name="connsiteY2" fmla="*/ 285824 h 308842"/>
                    <a:gd name="connsiteX3" fmla="*/ 0 w 120844"/>
                    <a:gd name="connsiteY3" fmla="*/ 285824 h 308842"/>
                    <a:gd name="connsiteX4" fmla="*/ 0 w 120844"/>
                    <a:gd name="connsiteY4" fmla="*/ 308842 h 308842"/>
                    <a:gd name="connsiteX5" fmla="*/ 23018 w 120844"/>
                    <a:gd name="connsiteY5" fmla="*/ 308842 h 308842"/>
                    <a:gd name="connsiteX6" fmla="*/ 97826 w 120844"/>
                    <a:gd name="connsiteY6" fmla="*/ 308842 h 308842"/>
                    <a:gd name="connsiteX7" fmla="*/ 120844 w 120844"/>
                    <a:gd name="connsiteY7" fmla="*/ 308842 h 308842"/>
                    <a:gd name="connsiteX8" fmla="*/ 120844 w 120844"/>
                    <a:gd name="connsiteY8" fmla="*/ 285824 h 308842"/>
                    <a:gd name="connsiteX9" fmla="*/ 96319 w 120844"/>
                    <a:gd name="connsiteY9" fmla="*/ 285824 h 308842"/>
                    <a:gd name="connsiteX10" fmla="*/ 77703 w 120844"/>
                    <a:gd name="connsiteY10" fmla="*/ 1980 h 308842"/>
                    <a:gd name="connsiteX11" fmla="*/ 68093 w 120844"/>
                    <a:gd name="connsiteY11" fmla="*/ 0 h 3088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0844" h="308842">
                      <a:moveTo>
                        <a:pt x="68093" y="0"/>
                      </a:moveTo>
                      <a:lnTo>
                        <a:pt x="37116" y="22350"/>
                      </a:lnTo>
                      <a:lnTo>
                        <a:pt x="24152" y="285824"/>
                      </a:lnTo>
                      <a:lnTo>
                        <a:pt x="0" y="285824"/>
                      </a:lnTo>
                      <a:lnTo>
                        <a:pt x="0" y="308842"/>
                      </a:lnTo>
                      <a:lnTo>
                        <a:pt x="23018" y="308842"/>
                      </a:lnTo>
                      <a:lnTo>
                        <a:pt x="97826" y="308842"/>
                      </a:lnTo>
                      <a:lnTo>
                        <a:pt x="120844" y="308842"/>
                      </a:lnTo>
                      <a:lnTo>
                        <a:pt x="120844" y="285824"/>
                      </a:lnTo>
                      <a:lnTo>
                        <a:pt x="96319" y="285824"/>
                      </a:lnTo>
                      <a:lnTo>
                        <a:pt x="77703" y="1980"/>
                      </a:lnTo>
                      <a:lnTo>
                        <a:pt x="68093" y="0"/>
                      </a:ln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2" name="Freeform 22">
                  <a:extLst>
                    <a:ext uri="{FF2B5EF4-FFF2-40B4-BE49-F238E27FC236}">
                      <a16:creationId xmlns:a16="http://schemas.microsoft.com/office/drawing/2014/main" id="{D88547E1-B3E4-B4D3-8286-12E3FDF82512}"/>
                    </a:ext>
                  </a:extLst>
                </p:cNvPr>
                <p:cNvSpPr/>
                <p:nvPr/>
              </p:nvSpPr>
              <p:spPr>
                <a:xfrm>
                  <a:off x="8553020" y="1408657"/>
                  <a:ext cx="56922" cy="136988"/>
                </a:xfrm>
                <a:custGeom>
                  <a:avLst/>
                  <a:gdLst>
                    <a:gd name="connsiteX0" fmla="*/ 13946 w 63567"/>
                    <a:gd name="connsiteY0" fmla="*/ 149136 h 152979"/>
                    <a:gd name="connsiteX1" fmla="*/ 16633 w 63567"/>
                    <a:gd name="connsiteY1" fmla="*/ 152980 h 152979"/>
                    <a:gd name="connsiteX2" fmla="*/ 22267 w 63567"/>
                    <a:gd name="connsiteY2" fmla="*/ 146120 h 152979"/>
                    <a:gd name="connsiteX3" fmla="*/ 62416 w 63567"/>
                    <a:gd name="connsiteY3" fmla="*/ 142668 h 152979"/>
                    <a:gd name="connsiteX4" fmla="*/ 63567 w 63567"/>
                    <a:gd name="connsiteY4" fmla="*/ 137673 h 152979"/>
                    <a:gd name="connsiteX5" fmla="*/ 20242 w 63567"/>
                    <a:gd name="connsiteY5" fmla="*/ 7259 h 152979"/>
                    <a:gd name="connsiteX6" fmla="*/ 7257 w 63567"/>
                    <a:gd name="connsiteY6" fmla="*/ 478 h 152979"/>
                    <a:gd name="connsiteX7" fmla="*/ 72 w 63567"/>
                    <a:gd name="connsiteY7" fmla="*/ 11575 h 152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3567" h="152979">
                      <a:moveTo>
                        <a:pt x="13946" y="149136"/>
                      </a:moveTo>
                      <a:lnTo>
                        <a:pt x="16633" y="152980"/>
                      </a:lnTo>
                      <a:cubicBezTo>
                        <a:pt x="18191" y="150448"/>
                        <a:pt x="20087" y="148141"/>
                        <a:pt x="22267" y="146120"/>
                      </a:cubicBezTo>
                      <a:cubicBezTo>
                        <a:pt x="33357" y="136086"/>
                        <a:pt x="49776" y="134674"/>
                        <a:pt x="62416" y="142668"/>
                      </a:cubicBezTo>
                      <a:lnTo>
                        <a:pt x="63567" y="137673"/>
                      </a:lnTo>
                      <a:lnTo>
                        <a:pt x="20242" y="7259"/>
                      </a:lnTo>
                      <a:cubicBezTo>
                        <a:pt x="18528" y="1801"/>
                        <a:pt x="12715" y="-1235"/>
                        <a:pt x="7257" y="478"/>
                      </a:cubicBezTo>
                      <a:cubicBezTo>
                        <a:pt x="2506" y="1969"/>
                        <a:pt x="-512" y="6630"/>
                        <a:pt x="72" y="11575"/>
                      </a:cubicBez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3" name="Freeform 23">
                  <a:extLst>
                    <a:ext uri="{FF2B5EF4-FFF2-40B4-BE49-F238E27FC236}">
                      <a16:creationId xmlns:a16="http://schemas.microsoft.com/office/drawing/2014/main" id="{0FB0BDBB-3950-03E9-4403-AE507B10CFE9}"/>
                    </a:ext>
                  </a:extLst>
                </p:cNvPr>
                <p:cNvSpPr/>
                <p:nvPr/>
              </p:nvSpPr>
              <p:spPr>
                <a:xfrm>
                  <a:off x="8606764" y="1549264"/>
                  <a:ext cx="136456" cy="68098"/>
                </a:xfrm>
                <a:custGeom>
                  <a:avLst/>
                  <a:gdLst>
                    <a:gd name="connsiteX0" fmla="*/ 146072 w 152385"/>
                    <a:gd name="connsiteY0" fmla="*/ 56152 h 76047"/>
                    <a:gd name="connsiteX1" fmla="*/ 21372 w 152385"/>
                    <a:gd name="connsiteY1" fmla="*/ 0 h 76047"/>
                    <a:gd name="connsiteX2" fmla="*/ 15198 w 152385"/>
                    <a:gd name="connsiteY2" fmla="*/ 685 h 76047"/>
                    <a:gd name="connsiteX3" fmla="*/ 0 w 152385"/>
                    <a:gd name="connsiteY3" fmla="*/ 43504 h 76047"/>
                    <a:gd name="connsiteX4" fmla="*/ 5933 w 152385"/>
                    <a:gd name="connsiteY4" fmla="*/ 48268 h 76047"/>
                    <a:gd name="connsiteX5" fmla="*/ 139725 w 152385"/>
                    <a:gd name="connsiteY5" fmla="*/ 75786 h 76047"/>
                    <a:gd name="connsiteX6" fmla="*/ 152125 w 152385"/>
                    <a:gd name="connsiteY6" fmla="*/ 67988 h 76047"/>
                    <a:gd name="connsiteX7" fmla="*/ 146072 w 152385"/>
                    <a:gd name="connsiteY7" fmla="*/ 56152 h 76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2385" h="76047">
                      <a:moveTo>
                        <a:pt x="146072" y="56152"/>
                      </a:moveTo>
                      <a:lnTo>
                        <a:pt x="21372" y="0"/>
                      </a:lnTo>
                      <a:lnTo>
                        <a:pt x="15198" y="685"/>
                      </a:lnTo>
                      <a:cubicBezTo>
                        <a:pt x="22509" y="16721"/>
                        <a:pt x="15785" y="35665"/>
                        <a:pt x="0" y="43504"/>
                      </a:cubicBezTo>
                      <a:lnTo>
                        <a:pt x="5933" y="48268"/>
                      </a:lnTo>
                      <a:lnTo>
                        <a:pt x="139725" y="75786"/>
                      </a:lnTo>
                      <a:cubicBezTo>
                        <a:pt x="145303" y="77057"/>
                        <a:pt x="150854" y="73566"/>
                        <a:pt x="152125" y="67988"/>
                      </a:cubicBezTo>
                      <a:cubicBezTo>
                        <a:pt x="153239" y="63097"/>
                        <a:pt x="150689" y="58112"/>
                        <a:pt x="146072" y="56152"/>
                      </a:cubicBez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4" name="Freeform 24">
                  <a:extLst>
                    <a:ext uri="{FF2B5EF4-FFF2-40B4-BE49-F238E27FC236}">
                      <a16:creationId xmlns:a16="http://schemas.microsoft.com/office/drawing/2014/main" id="{251F90D5-DFCC-11C7-0E18-EAA49A127F84}"/>
                    </a:ext>
                  </a:extLst>
                </p:cNvPr>
                <p:cNvSpPr/>
                <p:nvPr/>
              </p:nvSpPr>
              <p:spPr>
                <a:xfrm>
                  <a:off x="8474197" y="1562276"/>
                  <a:ext cx="116978" cy="108587"/>
                </a:xfrm>
                <a:custGeom>
                  <a:avLst/>
                  <a:gdLst>
                    <a:gd name="connsiteX0" fmla="*/ 130633 w 130633"/>
                    <a:gd name="connsiteY0" fmla="*/ 32726 h 121263"/>
                    <a:gd name="connsiteX1" fmla="*/ 99415 w 130633"/>
                    <a:gd name="connsiteY1" fmla="*/ 0 h 121263"/>
                    <a:gd name="connsiteX2" fmla="*/ 93085 w 130633"/>
                    <a:gd name="connsiteY2" fmla="*/ 2169 h 121263"/>
                    <a:gd name="connsiteX3" fmla="*/ 2699 w 130633"/>
                    <a:gd name="connsiteY3" fmla="*/ 103931 h 121263"/>
                    <a:gd name="connsiteX4" fmla="*/ 3384 w 130633"/>
                    <a:gd name="connsiteY4" fmla="*/ 118564 h 121263"/>
                    <a:gd name="connsiteX5" fmla="*/ 16510 w 130633"/>
                    <a:gd name="connsiteY5" fmla="*/ 119238 h 121263"/>
                    <a:gd name="connsiteX6" fmla="*/ 127917 w 130633"/>
                    <a:gd name="connsiteY6" fmla="*/ 39010 h 121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0633" h="121263">
                      <a:moveTo>
                        <a:pt x="130633" y="32726"/>
                      </a:moveTo>
                      <a:cubicBezTo>
                        <a:pt x="113226" y="31755"/>
                        <a:pt x="99564" y="17434"/>
                        <a:pt x="99415" y="0"/>
                      </a:cubicBezTo>
                      <a:lnTo>
                        <a:pt x="93085" y="2169"/>
                      </a:lnTo>
                      <a:lnTo>
                        <a:pt x="2699" y="103931"/>
                      </a:lnTo>
                      <a:cubicBezTo>
                        <a:pt x="-1152" y="108162"/>
                        <a:pt x="-845" y="114712"/>
                        <a:pt x="3384" y="118564"/>
                      </a:cubicBezTo>
                      <a:cubicBezTo>
                        <a:pt x="7039" y="121891"/>
                        <a:pt x="12534" y="122174"/>
                        <a:pt x="16510" y="119238"/>
                      </a:cubicBezTo>
                      <a:lnTo>
                        <a:pt x="127917" y="39010"/>
                      </a:ln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5" name="Freeform 25">
                  <a:extLst>
                    <a:ext uri="{FF2B5EF4-FFF2-40B4-BE49-F238E27FC236}">
                      <a16:creationId xmlns:a16="http://schemas.microsoft.com/office/drawing/2014/main" id="{592E8AE8-1756-D481-F66D-7DDEB0D8A0C5}"/>
                    </a:ext>
                  </a:extLst>
                </p:cNvPr>
                <p:cNvSpPr/>
                <p:nvPr/>
              </p:nvSpPr>
              <p:spPr>
                <a:xfrm>
                  <a:off x="8578549" y="1547238"/>
                  <a:ext cx="28969" cy="28969"/>
                </a:xfrm>
                <a:custGeom>
                  <a:avLst/>
                  <a:gdLst>
                    <a:gd name="connsiteX0" fmla="*/ 5326 w 32351"/>
                    <a:gd name="connsiteY0" fmla="*/ 4179 h 32351"/>
                    <a:gd name="connsiteX1" fmla="*/ 4179 w 32351"/>
                    <a:gd name="connsiteY1" fmla="*/ 27026 h 32351"/>
                    <a:gd name="connsiteX2" fmla="*/ 27026 w 32351"/>
                    <a:gd name="connsiteY2" fmla="*/ 28173 h 32351"/>
                    <a:gd name="connsiteX3" fmla="*/ 28177 w 32351"/>
                    <a:gd name="connsiteY3" fmla="*/ 5330 h 32351"/>
                    <a:gd name="connsiteX4" fmla="*/ 5330 w 32351"/>
                    <a:gd name="connsiteY4" fmla="*/ 4175 h 32351"/>
                    <a:gd name="connsiteX5" fmla="*/ 5326 w 32351"/>
                    <a:gd name="connsiteY5" fmla="*/ 4179 h 32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351" h="32351">
                      <a:moveTo>
                        <a:pt x="5326" y="4179"/>
                      </a:moveTo>
                      <a:cubicBezTo>
                        <a:pt x="-1300" y="10172"/>
                        <a:pt x="-1813" y="20400"/>
                        <a:pt x="4179" y="27026"/>
                      </a:cubicBezTo>
                      <a:cubicBezTo>
                        <a:pt x="10171" y="33652"/>
                        <a:pt x="20401" y="34165"/>
                        <a:pt x="27026" y="28173"/>
                      </a:cubicBezTo>
                      <a:cubicBezTo>
                        <a:pt x="33650" y="22182"/>
                        <a:pt x="34165" y="11956"/>
                        <a:pt x="28177" y="5330"/>
                      </a:cubicBezTo>
                      <a:cubicBezTo>
                        <a:pt x="22186" y="-1298"/>
                        <a:pt x="11958" y="-1815"/>
                        <a:pt x="5330" y="4175"/>
                      </a:cubicBezTo>
                      <a:cubicBezTo>
                        <a:pt x="5328" y="4177"/>
                        <a:pt x="5327" y="4178"/>
                        <a:pt x="5326" y="4179"/>
                      </a:cubicBez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</p:grpSp>
          <p:pic>
            <p:nvPicPr>
              <p:cNvPr id="28" name="Graphic 27" descr="Lightning bolt with solid fill">
                <a:extLst>
                  <a:ext uri="{FF2B5EF4-FFF2-40B4-BE49-F238E27FC236}">
                    <a16:creationId xmlns:a16="http://schemas.microsoft.com/office/drawing/2014/main" id="{C1164F65-C8E9-D8AE-5A26-B0C26E3CF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261948" y="1699208"/>
                <a:ext cx="170273" cy="170273"/>
              </a:xfrm>
              <a:prstGeom prst="rect">
                <a:avLst/>
              </a:prstGeom>
            </p:spPr>
          </p:pic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ED2CD6C-6B87-FBDF-6038-2E04375099A6}"/>
                </a:ext>
              </a:extLst>
            </p:cNvPr>
            <p:cNvCxnSpPr>
              <a:cxnSpLocks/>
            </p:cNvCxnSpPr>
            <p:nvPr/>
          </p:nvCxnSpPr>
          <p:spPr>
            <a:xfrm>
              <a:off x="6945202" y="2729056"/>
              <a:ext cx="613607" cy="362158"/>
            </a:xfrm>
            <a:prstGeom prst="straightConnector1">
              <a:avLst/>
            </a:prstGeom>
            <a:ln w="25400" cap="rnd">
              <a:solidFill>
                <a:srgbClr val="F8A800"/>
              </a:solidFill>
              <a:headEnd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7CE162D-BF38-62AB-7702-1601D0B3EE6C}"/>
                </a:ext>
              </a:extLst>
            </p:cNvPr>
            <p:cNvCxnSpPr>
              <a:cxnSpLocks/>
            </p:cNvCxnSpPr>
            <p:nvPr/>
          </p:nvCxnSpPr>
          <p:spPr>
            <a:xfrm>
              <a:off x="8535254" y="2017846"/>
              <a:ext cx="0" cy="663107"/>
            </a:xfrm>
            <a:prstGeom prst="straightConnector1">
              <a:avLst/>
            </a:prstGeom>
            <a:ln w="25400" cap="rnd">
              <a:solidFill>
                <a:srgbClr val="F8A800"/>
              </a:solidFill>
              <a:headEnd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0BD355E-AA21-ABD5-33A9-6A62890B32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9316" y="2395232"/>
              <a:ext cx="528829" cy="497799"/>
            </a:xfrm>
            <a:prstGeom prst="straightConnector1">
              <a:avLst/>
            </a:prstGeom>
            <a:ln w="25400" cap="rnd">
              <a:solidFill>
                <a:srgbClr val="F8A800"/>
              </a:solidFill>
              <a:headEnd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C0005D-4F6F-56A1-D02D-CAF739A019A8}"/>
                </a:ext>
              </a:extLst>
            </p:cNvPr>
            <p:cNvSpPr txBox="1"/>
            <p:nvPr/>
          </p:nvSpPr>
          <p:spPr>
            <a:xfrm rot="1853151">
              <a:off x="6944651" y="2569014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>
                  <a:solidFill>
                    <a:srgbClr val="F8A800"/>
                  </a:solidFill>
                </a:rPr>
                <a:t>2025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D1C43F-E704-86A4-00B2-D3D0D479B706}"/>
                </a:ext>
              </a:extLst>
            </p:cNvPr>
            <p:cNvSpPr txBox="1"/>
            <p:nvPr/>
          </p:nvSpPr>
          <p:spPr>
            <a:xfrm rot="18945736">
              <a:off x="9212421" y="2310351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>
                  <a:solidFill>
                    <a:srgbClr val="F8A800"/>
                  </a:solidFill>
                </a:rPr>
                <a:t>2035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D50D56-5B6B-F248-62C1-C76F16B9F6F7}"/>
                </a:ext>
              </a:extLst>
            </p:cNvPr>
            <p:cNvSpPr txBox="1"/>
            <p:nvPr/>
          </p:nvSpPr>
          <p:spPr>
            <a:xfrm rot="16200000">
              <a:off x="8031222" y="2088369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>
                  <a:solidFill>
                    <a:srgbClr val="F8A800"/>
                  </a:solidFill>
                </a:rPr>
                <a:t>2030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42FAB2A1-2BCD-B8F8-7C33-8710908BC386}"/>
              </a:ext>
            </a:extLst>
          </p:cNvPr>
          <p:cNvSpPr/>
          <p:nvPr/>
        </p:nvSpPr>
        <p:spPr>
          <a:xfrm>
            <a:off x="2726875" y="3776340"/>
            <a:ext cx="378378" cy="238994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715">
                <a:solidFill>
                  <a:schemeClr val="tx1"/>
                </a:solidFill>
              </a:rPr>
              <a:t>Use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773C73-6064-15B8-6887-FCBD10FC0AB4}"/>
              </a:ext>
            </a:extLst>
          </p:cNvPr>
          <p:cNvCxnSpPr>
            <a:cxnSpLocks/>
          </p:cNvCxnSpPr>
          <p:nvPr/>
        </p:nvCxnSpPr>
        <p:spPr>
          <a:xfrm>
            <a:off x="3136273" y="3776340"/>
            <a:ext cx="211082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D072C3-35C6-FD61-9064-410EC4B5343D}"/>
              </a:ext>
            </a:extLst>
          </p:cNvPr>
          <p:cNvCxnSpPr>
            <a:cxnSpLocks/>
          </p:cNvCxnSpPr>
          <p:nvPr/>
        </p:nvCxnSpPr>
        <p:spPr>
          <a:xfrm>
            <a:off x="2495770" y="4015334"/>
            <a:ext cx="211082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18FF54-5A21-E47E-3883-D580782EEFE6}"/>
              </a:ext>
            </a:extLst>
          </p:cNvPr>
          <p:cNvCxnSpPr>
            <a:cxnSpLocks/>
          </p:cNvCxnSpPr>
          <p:nvPr/>
        </p:nvCxnSpPr>
        <p:spPr>
          <a:xfrm>
            <a:off x="1889706" y="4412678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8BFF3B-3ABC-F44C-91A0-A2BFA7510690}"/>
              </a:ext>
            </a:extLst>
          </p:cNvPr>
          <p:cNvCxnSpPr>
            <a:cxnSpLocks/>
          </p:cNvCxnSpPr>
          <p:nvPr/>
        </p:nvCxnSpPr>
        <p:spPr>
          <a:xfrm>
            <a:off x="1283128" y="4978186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773C70D-F06A-84C5-9267-5185CECFF287}"/>
              </a:ext>
            </a:extLst>
          </p:cNvPr>
          <p:cNvSpPr/>
          <p:nvPr/>
        </p:nvSpPr>
        <p:spPr>
          <a:xfrm>
            <a:off x="1527560" y="4412678"/>
            <a:ext cx="378378" cy="56628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5557FC-0013-048A-341D-86010ADCFE27}"/>
              </a:ext>
            </a:extLst>
          </p:cNvPr>
          <p:cNvSpPr/>
          <p:nvPr/>
        </p:nvSpPr>
        <p:spPr>
          <a:xfrm>
            <a:off x="2128867" y="4015334"/>
            <a:ext cx="378378" cy="397343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001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685AEE-4A50-D360-A354-A4E32D8A49DE}"/>
              </a:ext>
            </a:extLst>
          </p:cNvPr>
          <p:cNvSpPr/>
          <p:nvPr/>
        </p:nvSpPr>
        <p:spPr>
          <a:xfrm>
            <a:off x="3324885" y="3466479"/>
            <a:ext cx="378378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31E2F1A-7BE2-231D-9CEC-C3C27F02E49C}"/>
              </a:ext>
            </a:extLst>
          </p:cNvPr>
          <p:cNvCxnSpPr>
            <a:cxnSpLocks/>
          </p:cNvCxnSpPr>
          <p:nvPr/>
        </p:nvCxnSpPr>
        <p:spPr>
          <a:xfrm>
            <a:off x="1713956" y="1920469"/>
            <a:ext cx="0" cy="2445143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A91E34-9D22-50B4-CC99-228075E7A7FF}"/>
              </a:ext>
            </a:extLst>
          </p:cNvPr>
          <p:cNvCxnSpPr>
            <a:cxnSpLocks/>
          </p:cNvCxnSpPr>
          <p:nvPr/>
        </p:nvCxnSpPr>
        <p:spPr>
          <a:xfrm>
            <a:off x="2315263" y="1930844"/>
            <a:ext cx="0" cy="2030294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0984FF-DF7B-474B-A412-423205DAF72D}"/>
              </a:ext>
            </a:extLst>
          </p:cNvPr>
          <p:cNvCxnSpPr>
            <a:cxnSpLocks/>
          </p:cNvCxnSpPr>
          <p:nvPr/>
        </p:nvCxnSpPr>
        <p:spPr>
          <a:xfrm>
            <a:off x="2913271" y="1920469"/>
            <a:ext cx="0" cy="1802439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1F281D-DABC-BAF4-5742-DCFAC9743131}"/>
              </a:ext>
            </a:extLst>
          </p:cNvPr>
          <p:cNvCxnSpPr>
            <a:cxnSpLocks/>
          </p:cNvCxnSpPr>
          <p:nvPr/>
        </p:nvCxnSpPr>
        <p:spPr>
          <a:xfrm>
            <a:off x="3510677" y="1920469"/>
            <a:ext cx="605" cy="1493109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6ABBCC-0389-474B-C558-C31CFFBB77FF}"/>
              </a:ext>
            </a:extLst>
          </p:cNvPr>
          <p:cNvCxnSpPr>
            <a:cxnSpLocks/>
          </p:cNvCxnSpPr>
          <p:nvPr/>
        </p:nvCxnSpPr>
        <p:spPr>
          <a:xfrm>
            <a:off x="1117109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ADADF9-E691-88F3-E7FA-497F6E1ED52D}"/>
              </a:ext>
            </a:extLst>
          </p:cNvPr>
          <p:cNvCxnSpPr>
            <a:cxnSpLocks/>
          </p:cNvCxnSpPr>
          <p:nvPr/>
        </p:nvCxnSpPr>
        <p:spPr>
          <a:xfrm>
            <a:off x="351067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B27DF3B-259B-E29F-582E-FE204D967B5C}"/>
              </a:ext>
            </a:extLst>
          </p:cNvPr>
          <p:cNvCxnSpPr>
            <a:cxnSpLocks/>
          </p:cNvCxnSpPr>
          <p:nvPr/>
        </p:nvCxnSpPr>
        <p:spPr>
          <a:xfrm>
            <a:off x="690668" y="5820992"/>
            <a:ext cx="3260017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4B904E-CEE4-541E-4ABB-5CB12BFC5865}"/>
              </a:ext>
            </a:extLst>
          </p:cNvPr>
          <p:cNvCxnSpPr>
            <a:cxnSpLocks/>
          </p:cNvCxnSpPr>
          <p:nvPr/>
        </p:nvCxnSpPr>
        <p:spPr>
          <a:xfrm flipV="1">
            <a:off x="690668" y="2189841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59E1BFC-A54D-6A14-E1E3-5C70736EC516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33BE494-227A-6A2A-C84C-131F082051CD}"/>
              </a:ext>
            </a:extLst>
          </p:cNvPr>
          <p:cNvCxnSpPr>
            <a:cxnSpLocks/>
          </p:cNvCxnSpPr>
          <p:nvPr/>
        </p:nvCxnSpPr>
        <p:spPr>
          <a:xfrm>
            <a:off x="1713352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270082E-1A24-5B23-6281-E7830DB9CD6F}"/>
              </a:ext>
            </a:extLst>
          </p:cNvPr>
          <p:cNvCxnSpPr>
            <a:cxnSpLocks/>
          </p:cNvCxnSpPr>
          <p:nvPr/>
        </p:nvCxnSpPr>
        <p:spPr>
          <a:xfrm>
            <a:off x="2314658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4135977-C5F4-7889-992C-8A3EE30E5863}"/>
              </a:ext>
            </a:extLst>
          </p:cNvPr>
          <p:cNvCxnSpPr>
            <a:cxnSpLocks/>
          </p:cNvCxnSpPr>
          <p:nvPr/>
        </p:nvCxnSpPr>
        <p:spPr>
          <a:xfrm>
            <a:off x="291266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55">
            <a:extLst>
              <a:ext uri="{FF2B5EF4-FFF2-40B4-BE49-F238E27FC236}">
                <a16:creationId xmlns:a16="http://schemas.microsoft.com/office/drawing/2014/main" id="{375569E2-F99C-70C4-6BFA-380BE72546A9}"/>
              </a:ext>
            </a:extLst>
          </p:cNvPr>
          <p:cNvSpPr/>
          <p:nvPr/>
        </p:nvSpPr>
        <p:spPr>
          <a:xfrm>
            <a:off x="97375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2" name="Freeform 56">
            <a:extLst>
              <a:ext uri="{FF2B5EF4-FFF2-40B4-BE49-F238E27FC236}">
                <a16:creationId xmlns:a16="http://schemas.microsoft.com/office/drawing/2014/main" id="{41C86A81-E49E-1A13-F858-6DACDB44256C}"/>
              </a:ext>
            </a:extLst>
          </p:cNvPr>
          <p:cNvSpPr/>
          <p:nvPr/>
        </p:nvSpPr>
        <p:spPr>
          <a:xfrm>
            <a:off x="97375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3" name="Freeform 57">
            <a:extLst>
              <a:ext uri="{FF2B5EF4-FFF2-40B4-BE49-F238E27FC236}">
                <a16:creationId xmlns:a16="http://schemas.microsoft.com/office/drawing/2014/main" id="{7B6F7DAD-E205-F62A-7AFF-C79FFD71426C}"/>
              </a:ext>
            </a:extLst>
          </p:cNvPr>
          <p:cNvSpPr/>
          <p:nvPr/>
        </p:nvSpPr>
        <p:spPr>
          <a:xfrm>
            <a:off x="97375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4" name="Freeform 58">
            <a:extLst>
              <a:ext uri="{FF2B5EF4-FFF2-40B4-BE49-F238E27FC236}">
                <a16:creationId xmlns:a16="http://schemas.microsoft.com/office/drawing/2014/main" id="{476374FE-E603-7A8C-63C4-E0498EAFB376}"/>
              </a:ext>
            </a:extLst>
          </p:cNvPr>
          <p:cNvSpPr/>
          <p:nvPr/>
        </p:nvSpPr>
        <p:spPr>
          <a:xfrm>
            <a:off x="97375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5" name="Freeform 129">
            <a:extLst>
              <a:ext uri="{FF2B5EF4-FFF2-40B4-BE49-F238E27FC236}">
                <a16:creationId xmlns:a16="http://schemas.microsoft.com/office/drawing/2014/main" id="{ABEC9A5F-A1E7-5137-86F5-476563046684}"/>
              </a:ext>
            </a:extLst>
          </p:cNvPr>
          <p:cNvSpPr/>
          <p:nvPr/>
        </p:nvSpPr>
        <p:spPr>
          <a:xfrm>
            <a:off x="157369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6" name="Freeform 130">
            <a:extLst>
              <a:ext uri="{FF2B5EF4-FFF2-40B4-BE49-F238E27FC236}">
                <a16:creationId xmlns:a16="http://schemas.microsoft.com/office/drawing/2014/main" id="{486026A6-0B24-28F2-3FA8-3E90FEF9450A}"/>
              </a:ext>
            </a:extLst>
          </p:cNvPr>
          <p:cNvSpPr/>
          <p:nvPr/>
        </p:nvSpPr>
        <p:spPr>
          <a:xfrm>
            <a:off x="157369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7" name="Freeform 131">
            <a:extLst>
              <a:ext uri="{FF2B5EF4-FFF2-40B4-BE49-F238E27FC236}">
                <a16:creationId xmlns:a16="http://schemas.microsoft.com/office/drawing/2014/main" id="{69B7D7EC-1F62-2616-C4B4-66DBB8642B61}"/>
              </a:ext>
            </a:extLst>
          </p:cNvPr>
          <p:cNvSpPr/>
          <p:nvPr/>
        </p:nvSpPr>
        <p:spPr>
          <a:xfrm>
            <a:off x="157369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8" name="Freeform 132">
            <a:extLst>
              <a:ext uri="{FF2B5EF4-FFF2-40B4-BE49-F238E27FC236}">
                <a16:creationId xmlns:a16="http://schemas.microsoft.com/office/drawing/2014/main" id="{834CAE83-33C5-2E44-5375-3B05AA72C1B5}"/>
              </a:ext>
            </a:extLst>
          </p:cNvPr>
          <p:cNvSpPr/>
          <p:nvPr/>
        </p:nvSpPr>
        <p:spPr>
          <a:xfrm>
            <a:off x="157369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9" name="Freeform 133">
            <a:extLst>
              <a:ext uri="{FF2B5EF4-FFF2-40B4-BE49-F238E27FC236}">
                <a16:creationId xmlns:a16="http://schemas.microsoft.com/office/drawing/2014/main" id="{5FB207D6-CB33-A857-865F-A90E8A71AF90}"/>
              </a:ext>
            </a:extLst>
          </p:cNvPr>
          <p:cNvSpPr/>
          <p:nvPr/>
        </p:nvSpPr>
        <p:spPr>
          <a:xfrm>
            <a:off x="217363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0" name="Freeform 134">
            <a:extLst>
              <a:ext uri="{FF2B5EF4-FFF2-40B4-BE49-F238E27FC236}">
                <a16:creationId xmlns:a16="http://schemas.microsoft.com/office/drawing/2014/main" id="{915FDA03-57CD-2D0A-5B06-33A95EE7684A}"/>
              </a:ext>
            </a:extLst>
          </p:cNvPr>
          <p:cNvSpPr/>
          <p:nvPr/>
        </p:nvSpPr>
        <p:spPr>
          <a:xfrm>
            <a:off x="217363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1" name="Freeform 135">
            <a:extLst>
              <a:ext uri="{FF2B5EF4-FFF2-40B4-BE49-F238E27FC236}">
                <a16:creationId xmlns:a16="http://schemas.microsoft.com/office/drawing/2014/main" id="{0769B86D-1427-206B-961F-119534DA72F7}"/>
              </a:ext>
            </a:extLst>
          </p:cNvPr>
          <p:cNvSpPr/>
          <p:nvPr/>
        </p:nvSpPr>
        <p:spPr>
          <a:xfrm>
            <a:off x="217363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2" name="Freeform 136">
            <a:extLst>
              <a:ext uri="{FF2B5EF4-FFF2-40B4-BE49-F238E27FC236}">
                <a16:creationId xmlns:a16="http://schemas.microsoft.com/office/drawing/2014/main" id="{AC40C134-7F2C-6A67-209A-75C436B0F021}"/>
              </a:ext>
            </a:extLst>
          </p:cNvPr>
          <p:cNvSpPr/>
          <p:nvPr/>
        </p:nvSpPr>
        <p:spPr>
          <a:xfrm>
            <a:off x="217363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3" name="Freeform 137">
            <a:extLst>
              <a:ext uri="{FF2B5EF4-FFF2-40B4-BE49-F238E27FC236}">
                <a16:creationId xmlns:a16="http://schemas.microsoft.com/office/drawing/2014/main" id="{4B1C49E8-909F-6B47-984B-A3084507E721}"/>
              </a:ext>
            </a:extLst>
          </p:cNvPr>
          <p:cNvSpPr/>
          <p:nvPr/>
        </p:nvSpPr>
        <p:spPr>
          <a:xfrm>
            <a:off x="277357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4" name="Freeform 138">
            <a:extLst>
              <a:ext uri="{FF2B5EF4-FFF2-40B4-BE49-F238E27FC236}">
                <a16:creationId xmlns:a16="http://schemas.microsoft.com/office/drawing/2014/main" id="{5CFF2734-1621-4A40-D7AA-02040FDD2E4C}"/>
              </a:ext>
            </a:extLst>
          </p:cNvPr>
          <p:cNvSpPr/>
          <p:nvPr/>
        </p:nvSpPr>
        <p:spPr>
          <a:xfrm>
            <a:off x="277357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5" name="Freeform 139">
            <a:extLst>
              <a:ext uri="{FF2B5EF4-FFF2-40B4-BE49-F238E27FC236}">
                <a16:creationId xmlns:a16="http://schemas.microsoft.com/office/drawing/2014/main" id="{151EF8B9-4BF2-7B68-3994-76911A7314C7}"/>
              </a:ext>
            </a:extLst>
          </p:cNvPr>
          <p:cNvSpPr/>
          <p:nvPr/>
        </p:nvSpPr>
        <p:spPr>
          <a:xfrm>
            <a:off x="277357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6" name="Freeform 140">
            <a:extLst>
              <a:ext uri="{FF2B5EF4-FFF2-40B4-BE49-F238E27FC236}">
                <a16:creationId xmlns:a16="http://schemas.microsoft.com/office/drawing/2014/main" id="{E22742BB-08CB-5E50-8A36-D25A490789CE}"/>
              </a:ext>
            </a:extLst>
          </p:cNvPr>
          <p:cNvSpPr/>
          <p:nvPr/>
        </p:nvSpPr>
        <p:spPr>
          <a:xfrm>
            <a:off x="277357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7" name="Freeform 141">
            <a:extLst>
              <a:ext uri="{FF2B5EF4-FFF2-40B4-BE49-F238E27FC236}">
                <a16:creationId xmlns:a16="http://schemas.microsoft.com/office/drawing/2014/main" id="{DEE1E80E-009E-03A4-70A6-EF755C508C23}"/>
              </a:ext>
            </a:extLst>
          </p:cNvPr>
          <p:cNvSpPr/>
          <p:nvPr/>
        </p:nvSpPr>
        <p:spPr>
          <a:xfrm>
            <a:off x="3373512" y="122883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8" name="Freeform 142">
            <a:extLst>
              <a:ext uri="{FF2B5EF4-FFF2-40B4-BE49-F238E27FC236}">
                <a16:creationId xmlns:a16="http://schemas.microsoft.com/office/drawing/2014/main" id="{5C1D0109-3BF7-616E-0234-F7A9191BF06F}"/>
              </a:ext>
            </a:extLst>
          </p:cNvPr>
          <p:cNvSpPr/>
          <p:nvPr/>
        </p:nvSpPr>
        <p:spPr>
          <a:xfrm>
            <a:off x="3373512" y="1285615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9" name="Freeform 143">
            <a:extLst>
              <a:ext uri="{FF2B5EF4-FFF2-40B4-BE49-F238E27FC236}">
                <a16:creationId xmlns:a16="http://schemas.microsoft.com/office/drawing/2014/main" id="{17FA17A3-16D4-F8B3-1771-0439D86A6E59}"/>
              </a:ext>
            </a:extLst>
          </p:cNvPr>
          <p:cNvSpPr/>
          <p:nvPr/>
        </p:nvSpPr>
        <p:spPr>
          <a:xfrm>
            <a:off x="3373512" y="1380252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80" name="Freeform 144">
            <a:extLst>
              <a:ext uri="{FF2B5EF4-FFF2-40B4-BE49-F238E27FC236}">
                <a16:creationId xmlns:a16="http://schemas.microsoft.com/office/drawing/2014/main" id="{BDD9CE5F-FCC6-A572-80CE-3711F8E7FFB8}"/>
              </a:ext>
            </a:extLst>
          </p:cNvPr>
          <p:cNvSpPr/>
          <p:nvPr/>
        </p:nvSpPr>
        <p:spPr>
          <a:xfrm>
            <a:off x="3373512" y="1474890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B909CA7-CDF5-1B25-6A88-3C6FBB6142EF}"/>
              </a:ext>
            </a:extLst>
          </p:cNvPr>
          <p:cNvSpPr txBox="1"/>
          <p:nvPr/>
        </p:nvSpPr>
        <p:spPr>
          <a:xfrm>
            <a:off x="80855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08C364-964B-F4C4-9388-CA9EC01EEB9F}"/>
              </a:ext>
            </a:extLst>
          </p:cNvPr>
          <p:cNvSpPr txBox="1"/>
          <p:nvPr/>
        </p:nvSpPr>
        <p:spPr>
          <a:xfrm>
            <a:off x="141513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2025</a:t>
            </a:r>
            <a:endParaRPr lang="en-DE" sz="1430" i="1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62DDA5-4EB4-C837-DEBF-D0BDD5FA3E41}"/>
              </a:ext>
            </a:extLst>
          </p:cNvPr>
          <p:cNvSpPr txBox="1"/>
          <p:nvPr/>
        </p:nvSpPr>
        <p:spPr>
          <a:xfrm>
            <a:off x="2021712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2030</a:t>
            </a:r>
            <a:endParaRPr lang="en-DE" sz="1430" i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EE0A9A-009F-11E6-50FE-CCC9AC08E414}"/>
              </a:ext>
            </a:extLst>
          </p:cNvPr>
          <p:cNvSpPr txBox="1"/>
          <p:nvPr/>
        </p:nvSpPr>
        <p:spPr>
          <a:xfrm>
            <a:off x="2628291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2035</a:t>
            </a:r>
            <a:endParaRPr lang="en-DE" sz="1430" i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4D317F-1DBB-A38A-EC71-DF320FD603BE}"/>
              </a:ext>
            </a:extLst>
          </p:cNvPr>
          <p:cNvSpPr txBox="1"/>
          <p:nvPr/>
        </p:nvSpPr>
        <p:spPr>
          <a:xfrm>
            <a:off x="3234870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2040</a:t>
            </a:r>
            <a:endParaRPr lang="en-DE" sz="1430" i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41A54D-3009-6ECC-21FA-69CFDBC92C3E}"/>
              </a:ext>
            </a:extLst>
          </p:cNvPr>
          <p:cNvSpPr txBox="1"/>
          <p:nvPr/>
        </p:nvSpPr>
        <p:spPr>
          <a:xfrm>
            <a:off x="888609" y="902812"/>
            <a:ext cx="694507" cy="185951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databases:</a:t>
            </a:r>
            <a:endParaRPr lang="en-DE" sz="1430" i="1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46F6B0-3259-7363-869A-6719EEA1BE99}"/>
              </a:ext>
            </a:extLst>
          </p:cNvPr>
          <p:cNvSpPr txBox="1"/>
          <p:nvPr/>
        </p:nvSpPr>
        <p:spPr>
          <a:xfrm rot="18900000">
            <a:off x="723477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1E6328-CB90-47DE-E347-611BFA888129}"/>
              </a:ext>
            </a:extLst>
          </p:cNvPr>
          <p:cNvSpPr txBox="1"/>
          <p:nvPr/>
        </p:nvSpPr>
        <p:spPr>
          <a:xfrm rot="18900000">
            <a:off x="1325001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AC4A02-A3D7-FAF7-19A5-A2BB14AB1EC3}"/>
              </a:ext>
            </a:extLst>
          </p:cNvPr>
          <p:cNvSpPr txBox="1"/>
          <p:nvPr/>
        </p:nvSpPr>
        <p:spPr>
          <a:xfrm rot="18900000">
            <a:off x="1926525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CF57A8-4F3F-04AF-6B90-195C0EB919BE}"/>
              </a:ext>
            </a:extLst>
          </p:cNvPr>
          <p:cNvSpPr txBox="1"/>
          <p:nvPr/>
        </p:nvSpPr>
        <p:spPr>
          <a:xfrm rot="18900000">
            <a:off x="2528049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D8E22D-3FE3-F92F-294A-66EDCD24CC21}"/>
              </a:ext>
            </a:extLst>
          </p:cNvPr>
          <p:cNvSpPr txBox="1"/>
          <p:nvPr/>
        </p:nvSpPr>
        <p:spPr>
          <a:xfrm rot="18900000">
            <a:off x="3129573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2040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64C1C90-142F-7BDC-E74A-EE8F3A252DE3}"/>
              </a:ext>
            </a:extLst>
          </p:cNvPr>
          <p:cNvSpPr/>
          <p:nvPr/>
        </p:nvSpPr>
        <p:spPr>
          <a:xfrm>
            <a:off x="3321912" y="5338328"/>
            <a:ext cx="377530" cy="480436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BFC2BE6-38C8-4060-9472-1F500B96E719}"/>
              </a:ext>
            </a:extLst>
          </p:cNvPr>
          <p:cNvSpPr/>
          <p:nvPr/>
        </p:nvSpPr>
        <p:spPr>
          <a:xfrm>
            <a:off x="3321912" y="4549527"/>
            <a:ext cx="377530" cy="78880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GB" sz="910">
                <a:solidFill>
                  <a:schemeClr val="tx1"/>
                </a:solidFill>
              </a:rPr>
              <a:t>U</a:t>
            </a:r>
            <a:r>
              <a:rPr lang="en-DE" sz="910">
                <a:solidFill>
                  <a:schemeClr val="tx1"/>
                </a:solidFill>
              </a:rPr>
              <a:t>se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C723186-47F5-1C49-DDC4-6F38A60083A7}"/>
              </a:ext>
            </a:extLst>
          </p:cNvPr>
          <p:cNvSpPr/>
          <p:nvPr/>
        </p:nvSpPr>
        <p:spPr>
          <a:xfrm>
            <a:off x="3321912" y="4239666"/>
            <a:ext cx="377530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AB115AD-496A-F190-EB1F-5EC3B7C400ED}"/>
              </a:ext>
            </a:extLst>
          </p:cNvPr>
          <p:cNvSpPr/>
          <p:nvPr/>
        </p:nvSpPr>
        <p:spPr>
          <a:xfrm>
            <a:off x="3261413" y="4093203"/>
            <a:ext cx="515860" cy="1720129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59CCF7-4493-5EF3-9811-38541D91CAE0}"/>
              </a:ext>
            </a:extLst>
          </p:cNvPr>
          <p:cNvSpPr/>
          <p:nvPr/>
        </p:nvSpPr>
        <p:spPr>
          <a:xfrm>
            <a:off x="928344" y="3079100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BC7E38-A8C9-4048-ED8B-375D81F4EA17}"/>
              </a:ext>
            </a:extLst>
          </p:cNvPr>
          <p:cNvSpPr/>
          <p:nvPr/>
        </p:nvSpPr>
        <p:spPr>
          <a:xfrm>
            <a:off x="928344" y="2618640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6CA90DD-3FCA-D49B-FF68-91476DDF1298}"/>
              </a:ext>
            </a:extLst>
          </p:cNvPr>
          <p:cNvSpPr/>
          <p:nvPr/>
        </p:nvSpPr>
        <p:spPr>
          <a:xfrm>
            <a:off x="888609" y="2589018"/>
            <a:ext cx="454385" cy="238209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BC8AC59-B51C-B167-21A2-5D13E7378D9B}"/>
              </a:ext>
            </a:extLst>
          </p:cNvPr>
          <p:cNvCxnSpPr>
            <a:cxnSpLocks/>
          </p:cNvCxnSpPr>
          <p:nvPr/>
        </p:nvCxnSpPr>
        <p:spPr>
          <a:xfrm>
            <a:off x="1117715" y="1920469"/>
            <a:ext cx="0" cy="3014770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ADA43C8-8479-6704-FA55-86670D419EA5}"/>
              </a:ext>
            </a:extLst>
          </p:cNvPr>
          <p:cNvSpPr/>
          <p:nvPr/>
        </p:nvSpPr>
        <p:spPr>
          <a:xfrm>
            <a:off x="928344" y="4978959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 dirty="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01" name="Freeform: Shape 2">
            <a:extLst>
              <a:ext uri="{FF2B5EF4-FFF2-40B4-BE49-F238E27FC236}">
                <a16:creationId xmlns:a16="http://schemas.microsoft.com/office/drawing/2014/main" id="{69E57126-9F7D-6FBE-CA77-A27DFA82F666}"/>
              </a:ext>
            </a:extLst>
          </p:cNvPr>
          <p:cNvSpPr/>
          <p:nvPr/>
        </p:nvSpPr>
        <p:spPr>
          <a:xfrm>
            <a:off x="10571398" y="4139494"/>
            <a:ext cx="694890" cy="428849"/>
          </a:xfrm>
          <a:custGeom>
            <a:avLst/>
            <a:gdLst>
              <a:gd name="connsiteX0" fmla="*/ 748609 w 876503"/>
              <a:gd name="connsiteY0" fmla="*/ 237030 h 533333"/>
              <a:gd name="connsiteX1" fmla="*/ 677172 w 876503"/>
              <a:gd name="connsiteY1" fmla="*/ 120825 h 533333"/>
              <a:gd name="connsiteX2" fmla="*/ 540964 w 876503"/>
              <a:gd name="connsiteY2" fmla="*/ 92250 h 533333"/>
              <a:gd name="connsiteX3" fmla="*/ 371353 w 876503"/>
              <a:gd name="connsiteY3" fmla="*/ 0 h 533333"/>
              <a:gd name="connsiteX4" fmla="*/ 324747 w 876503"/>
              <a:gd name="connsiteY4" fmla="*/ 5468 h 533333"/>
              <a:gd name="connsiteX5" fmla="*/ 170442 w 876503"/>
              <a:gd name="connsiteY5" fmla="*/ 176965 h 533333"/>
              <a:gd name="connsiteX6" fmla="*/ 34234 w 876503"/>
              <a:gd name="connsiteY6" fmla="*/ 247450 h 533333"/>
              <a:gd name="connsiteX7" fmla="*/ 16137 w 876503"/>
              <a:gd name="connsiteY7" fmla="*/ 430330 h 533333"/>
              <a:gd name="connsiteX8" fmla="*/ 165679 w 876503"/>
              <a:gd name="connsiteY8" fmla="*/ 532248 h 533333"/>
              <a:gd name="connsiteX9" fmla="*/ 219210 w 876503"/>
              <a:gd name="connsiteY9" fmla="*/ 532248 h 533333"/>
              <a:gd name="connsiteX10" fmla="*/ 200160 w 876503"/>
              <a:gd name="connsiteY10" fmla="*/ 513198 h 533333"/>
              <a:gd name="connsiteX11" fmla="*/ 166194 w 876503"/>
              <a:gd name="connsiteY11" fmla="*/ 513198 h 533333"/>
              <a:gd name="connsiteX12" fmla="*/ 33482 w 876503"/>
              <a:gd name="connsiteY12" fmla="*/ 422663 h 533333"/>
              <a:gd name="connsiteX13" fmla="*/ 49522 w 876503"/>
              <a:gd name="connsiteY13" fmla="*/ 258833 h 533333"/>
              <a:gd name="connsiteX14" fmla="*/ 171061 w 876503"/>
              <a:gd name="connsiteY14" fmla="*/ 196091 h 533333"/>
              <a:gd name="connsiteX15" fmla="*/ 186882 w 876503"/>
              <a:gd name="connsiteY15" fmla="*/ 195520 h 533333"/>
              <a:gd name="connsiteX16" fmla="*/ 189225 w 876503"/>
              <a:gd name="connsiteY16" fmla="*/ 179861 h 533333"/>
              <a:gd name="connsiteX17" fmla="*/ 329167 w 876503"/>
              <a:gd name="connsiteY17" fmla="*/ 24022 h 533333"/>
              <a:gd name="connsiteX18" fmla="*/ 371315 w 876503"/>
              <a:gd name="connsiteY18" fmla="*/ 19003 h 533333"/>
              <a:gd name="connsiteX19" fmla="*/ 524972 w 876503"/>
              <a:gd name="connsiteY19" fmla="*/ 102623 h 533333"/>
              <a:gd name="connsiteX20" fmla="*/ 532021 w 876503"/>
              <a:gd name="connsiteY20" fmla="*/ 113414 h 533333"/>
              <a:gd name="connsiteX21" fmla="*/ 544660 w 876503"/>
              <a:gd name="connsiteY21" fmla="*/ 110881 h 533333"/>
              <a:gd name="connsiteX22" fmla="*/ 665952 w 876503"/>
              <a:gd name="connsiteY22" fmla="*/ 136208 h 533333"/>
              <a:gd name="connsiteX23" fmla="*/ 729769 w 876503"/>
              <a:gd name="connsiteY23" fmla="*/ 240097 h 533333"/>
              <a:gd name="connsiteX24" fmla="*/ 732007 w 876503"/>
              <a:gd name="connsiteY24" fmla="*/ 253803 h 533333"/>
              <a:gd name="connsiteX25" fmla="*/ 745743 w 876503"/>
              <a:gd name="connsiteY25" fmla="*/ 255861 h 533333"/>
              <a:gd name="connsiteX26" fmla="*/ 856127 w 876503"/>
              <a:gd name="connsiteY26" fmla="*/ 402675 h 533333"/>
              <a:gd name="connsiteX27" fmla="*/ 731455 w 876503"/>
              <a:gd name="connsiteY27" fmla="*/ 514284 h 533333"/>
              <a:gd name="connsiteX28" fmla="*/ 675076 w 876503"/>
              <a:gd name="connsiteY28" fmla="*/ 514284 h 533333"/>
              <a:gd name="connsiteX29" fmla="*/ 656026 w 876503"/>
              <a:gd name="connsiteY29" fmla="*/ 533334 h 533333"/>
              <a:gd name="connsiteX30" fmla="*/ 731465 w 876503"/>
              <a:gd name="connsiteY30" fmla="*/ 533334 h 533333"/>
              <a:gd name="connsiteX31" fmla="*/ 876452 w 876503"/>
              <a:gd name="connsiteY31" fmla="*/ 380576 h 533333"/>
              <a:gd name="connsiteX32" fmla="*/ 748609 w 876503"/>
              <a:gd name="connsiteY32" fmla="*/ 237030 h 5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6503" h="533333">
                <a:moveTo>
                  <a:pt x="748609" y="237030"/>
                </a:moveTo>
                <a:cubicBezTo>
                  <a:pt x="741033" y="190397"/>
                  <a:pt x="715362" y="148638"/>
                  <a:pt x="677172" y="120825"/>
                </a:cubicBezTo>
                <a:cubicBezTo>
                  <a:pt x="637582" y="93087"/>
                  <a:pt x="588364" y="82761"/>
                  <a:pt x="540964" y="92250"/>
                </a:cubicBezTo>
                <a:cubicBezTo>
                  <a:pt x="503575" y="34893"/>
                  <a:pt x="439819" y="217"/>
                  <a:pt x="371353" y="0"/>
                </a:cubicBezTo>
                <a:cubicBezTo>
                  <a:pt x="355656" y="-27"/>
                  <a:pt x="340012" y="1808"/>
                  <a:pt x="324747" y="5468"/>
                </a:cubicBezTo>
                <a:cubicBezTo>
                  <a:pt x="243604" y="26566"/>
                  <a:pt x="182884" y="94053"/>
                  <a:pt x="170442" y="176965"/>
                </a:cubicBezTo>
                <a:cubicBezTo>
                  <a:pt x="116767" y="178846"/>
                  <a:pt x="66769" y="204718"/>
                  <a:pt x="34234" y="247450"/>
                </a:cubicBezTo>
                <a:cubicBezTo>
                  <a:pt x="-3752" y="300906"/>
                  <a:pt x="-10635" y="370466"/>
                  <a:pt x="16137" y="430330"/>
                </a:cubicBezTo>
                <a:cubicBezTo>
                  <a:pt x="43445" y="489221"/>
                  <a:pt x="100881" y="528366"/>
                  <a:pt x="165679" y="532248"/>
                </a:cubicBezTo>
                <a:lnTo>
                  <a:pt x="219210" y="532248"/>
                </a:lnTo>
                <a:lnTo>
                  <a:pt x="200160" y="513198"/>
                </a:lnTo>
                <a:lnTo>
                  <a:pt x="166194" y="513198"/>
                </a:lnTo>
                <a:cubicBezTo>
                  <a:pt x="108730" y="509554"/>
                  <a:pt x="57839" y="474836"/>
                  <a:pt x="33482" y="422663"/>
                </a:cubicBezTo>
                <a:cubicBezTo>
                  <a:pt x="9650" y="369031"/>
                  <a:pt x="15741" y="306823"/>
                  <a:pt x="49522" y="258833"/>
                </a:cubicBezTo>
                <a:cubicBezTo>
                  <a:pt x="78693" y="220891"/>
                  <a:pt x="123235" y="197897"/>
                  <a:pt x="171061" y="196091"/>
                </a:cubicBezTo>
                <a:lnTo>
                  <a:pt x="186882" y="195520"/>
                </a:lnTo>
                <a:lnTo>
                  <a:pt x="189225" y="179861"/>
                </a:lnTo>
                <a:cubicBezTo>
                  <a:pt x="200330" y="104519"/>
                  <a:pt x="255449" y="43139"/>
                  <a:pt x="329167" y="24022"/>
                </a:cubicBezTo>
                <a:cubicBezTo>
                  <a:pt x="342968" y="20690"/>
                  <a:pt x="357117" y="19005"/>
                  <a:pt x="371315" y="19003"/>
                </a:cubicBezTo>
                <a:cubicBezTo>
                  <a:pt x="433395" y="19035"/>
                  <a:pt x="491234" y="50511"/>
                  <a:pt x="524972" y="102623"/>
                </a:cubicBezTo>
                <a:lnTo>
                  <a:pt x="532021" y="113414"/>
                </a:lnTo>
                <a:lnTo>
                  <a:pt x="544660" y="110881"/>
                </a:lnTo>
                <a:cubicBezTo>
                  <a:pt x="586853" y="102441"/>
                  <a:pt x="630662" y="111589"/>
                  <a:pt x="665952" y="136208"/>
                </a:cubicBezTo>
                <a:cubicBezTo>
                  <a:pt x="700001" y="161151"/>
                  <a:pt x="722913" y="198450"/>
                  <a:pt x="729769" y="240097"/>
                </a:cubicBezTo>
                <a:lnTo>
                  <a:pt x="732007" y="253803"/>
                </a:lnTo>
                <a:lnTo>
                  <a:pt x="745743" y="255861"/>
                </a:lnTo>
                <a:cubicBezTo>
                  <a:pt x="816766" y="265921"/>
                  <a:pt x="866186" y="331652"/>
                  <a:pt x="856127" y="402675"/>
                </a:cubicBezTo>
                <a:cubicBezTo>
                  <a:pt x="847262" y="465258"/>
                  <a:pt x="794633" y="512372"/>
                  <a:pt x="731455" y="514284"/>
                </a:cubicBezTo>
                <a:lnTo>
                  <a:pt x="675076" y="514284"/>
                </a:lnTo>
                <a:lnTo>
                  <a:pt x="656026" y="533334"/>
                </a:lnTo>
                <a:lnTo>
                  <a:pt x="731465" y="533334"/>
                </a:lnTo>
                <a:cubicBezTo>
                  <a:pt x="813684" y="531188"/>
                  <a:pt x="878598" y="462796"/>
                  <a:pt x="876452" y="380576"/>
                </a:cubicBezTo>
                <a:cubicBezTo>
                  <a:pt x="874557" y="307949"/>
                  <a:pt x="820533" y="247289"/>
                  <a:pt x="748609" y="237030"/>
                </a:cubicBezTo>
                <a:close/>
              </a:path>
            </a:pathLst>
          </a:custGeom>
          <a:solidFill>
            <a:srgbClr val="7A6F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02" name="Graphic 101" descr="Wireless with solid fill">
            <a:extLst>
              <a:ext uri="{FF2B5EF4-FFF2-40B4-BE49-F238E27FC236}">
                <a16:creationId xmlns:a16="http://schemas.microsoft.com/office/drawing/2014/main" id="{D62BB432-8C95-9D62-8FED-C9AE20AEC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823993">
            <a:off x="10662396" y="4207450"/>
            <a:ext cx="483913" cy="459324"/>
          </a:xfrm>
          <a:prstGeom prst="rect">
            <a:avLst/>
          </a:prstGeom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48B543C-CABF-F870-A7D4-89E80021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AFC9B-A1D4-3D9B-0725-739841DAC05D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2FFB3D7-2A70-E78E-19C9-0B3E32DD32CF}"/>
              </a:ext>
            </a:extLst>
          </p:cNvPr>
          <p:cNvSpPr/>
          <p:nvPr/>
        </p:nvSpPr>
        <p:spPr>
          <a:xfrm>
            <a:off x="10750296" y="3261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450610E-FA73-62BE-A94E-F096D25CDD94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146574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9F01-CBDA-F48E-DEFF-941E82DF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C6F25-D1F6-84B7-8D09-BAD9FA53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0C9E27-B60F-8FE1-D191-D9213197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7AEC-74C1-CABA-D38B-6F111652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8</a:t>
            </a:fld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B7BF1-FC67-26D4-A6D3-BD6B088E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22" y="834625"/>
            <a:ext cx="10270980" cy="32570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F6CF41-CA71-1841-A1C7-0165135FDD41}"/>
              </a:ext>
            </a:extLst>
          </p:cNvPr>
          <p:cNvSpPr txBox="1"/>
          <p:nvPr/>
        </p:nvSpPr>
        <p:spPr>
          <a:xfrm>
            <a:off x="1469103" y="4792449"/>
            <a:ext cx="921715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In a time-explicit LCA, you model a system </a:t>
            </a:r>
            <a:r>
              <a:rPr lang="en-US" sz="2000" i="1" dirty="0"/>
              <a:t>over time</a:t>
            </a:r>
            <a:r>
              <a:rPr lang="en-US" sz="2000" dirty="0"/>
              <a:t>, with time-specific processes and amounts, and </a:t>
            </a:r>
            <a:r>
              <a:rPr lang="en-US" sz="2000" i="1" dirty="0"/>
              <a:t>time-dependent </a:t>
            </a:r>
            <a:r>
              <a:rPr lang="en-US" sz="2000" dirty="0"/>
              <a:t>impact assessment of emissions.</a:t>
            </a:r>
            <a:endParaRPr lang="en-BE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F0E7D-B561-D8DE-E1B9-42FEFBC2D7CF}"/>
              </a:ext>
            </a:extLst>
          </p:cNvPr>
          <p:cNvSpPr txBox="1"/>
          <p:nvPr/>
        </p:nvSpPr>
        <p:spPr>
          <a:xfrm>
            <a:off x="8421624" y="3587131"/>
            <a:ext cx="228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00B050"/>
                </a:solidFill>
              </a:rPr>
              <a:t>*</a:t>
            </a:r>
            <a:endParaRPr lang="en-BE" sz="20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F1B6F-4D33-2F99-0AB2-21562F310F2D}"/>
              </a:ext>
            </a:extLst>
          </p:cNvPr>
          <p:cNvSpPr txBox="1"/>
          <p:nvPr/>
        </p:nvSpPr>
        <p:spPr>
          <a:xfrm>
            <a:off x="9761537" y="3587130"/>
            <a:ext cx="228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00B050"/>
                </a:solidFill>
              </a:rPr>
              <a:t>*</a:t>
            </a:r>
            <a:endParaRPr lang="en-BE" sz="20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2AF76-03AD-3308-DBA3-C8C08B05DC70}"/>
              </a:ext>
            </a:extLst>
          </p:cNvPr>
          <p:cNvSpPr txBox="1"/>
          <p:nvPr/>
        </p:nvSpPr>
        <p:spPr>
          <a:xfrm>
            <a:off x="10307954" y="4001211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00B050"/>
                </a:solidFill>
              </a:rPr>
              <a:t>optional</a:t>
            </a:r>
            <a:endParaRPr lang="en-BE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2748F-FBCF-E9C6-B7A5-4C188B7A6612}"/>
              </a:ext>
            </a:extLst>
          </p:cNvPr>
          <p:cNvSpPr txBox="1"/>
          <p:nvPr/>
        </p:nvSpPr>
        <p:spPr>
          <a:xfrm>
            <a:off x="10131488" y="3937809"/>
            <a:ext cx="228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00B050"/>
                </a:solidFill>
              </a:rPr>
              <a:t>*</a:t>
            </a:r>
            <a:endParaRPr lang="en-BE" sz="2000" dirty="0">
              <a:solidFill>
                <a:srgbClr val="00B050"/>
              </a:solidFill>
            </a:endParaRPr>
          </a:p>
        </p:txBody>
      </p:sp>
      <p:pic>
        <p:nvPicPr>
          <p:cNvPr id="17" name="Graphic 16" descr="Lights On with solid fill">
            <a:extLst>
              <a:ext uri="{FF2B5EF4-FFF2-40B4-BE49-F238E27FC236}">
                <a16:creationId xmlns:a16="http://schemas.microsoft.com/office/drawing/2014/main" id="{7ED2BAE5-86B7-9154-E03A-C61EE7F34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035" y="4792449"/>
            <a:ext cx="615553" cy="6155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36AC172-A322-7963-466C-F3FC5F5632E2}"/>
              </a:ext>
            </a:extLst>
          </p:cNvPr>
          <p:cNvSpPr/>
          <p:nvPr/>
        </p:nvSpPr>
        <p:spPr>
          <a:xfrm>
            <a:off x="10433304" y="211302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166E64-C915-F39D-2080-DD270275E8D1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173010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B2C5-90CA-0390-A5F9-DC5ABA78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F526-39BC-8934-805B-ACB1A7C6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day schedule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D6ED9-46B4-2EE9-4EAE-98F40FA0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DFCF4-4D05-165F-776A-BBB53A9B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err="1"/>
              <a:t>BrightCon</a:t>
            </a:r>
            <a:r>
              <a:rPr lang="en-US" noProof="0" dirty="0"/>
              <a:t> 2026 - Intermediate course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4A502-5D64-958E-02E7-58EE5DF1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499F1-B613-B506-F392-F8E3FBC7D398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730201-537D-D7DF-5FC5-2554E03B7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9454"/>
          <a:stretch>
            <a:fillRect/>
          </a:stretch>
        </p:blipFill>
        <p:spPr>
          <a:xfrm>
            <a:off x="541671" y="757014"/>
            <a:ext cx="7105219" cy="17575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B90E078-F4A4-C28D-D4E6-D5C77FE0AE78}"/>
              </a:ext>
            </a:extLst>
          </p:cNvPr>
          <p:cNvSpPr txBox="1">
            <a:spLocks/>
          </p:cNvSpPr>
          <p:nvPr/>
        </p:nvSpPr>
        <p:spPr>
          <a:xfrm>
            <a:off x="695325" y="2936212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Morning block schedule</a:t>
            </a:r>
            <a:endParaRPr lang="en-BE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01B5CD-DA75-EAFA-F0F1-A934CD2BD0BA}"/>
              </a:ext>
            </a:extLst>
          </p:cNvPr>
          <p:cNvGraphicFramePr>
            <a:graphicFrameLocks noGrp="1"/>
          </p:cNvGraphicFramePr>
          <p:nvPr/>
        </p:nvGraphicFramePr>
        <p:xfrm>
          <a:off x="636460" y="3429000"/>
          <a:ext cx="6788468" cy="2203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972">
                  <a:extLst>
                    <a:ext uri="{9D8B030D-6E8A-4147-A177-3AD203B41FA5}">
                      <a16:colId xmlns:a16="http://schemas.microsoft.com/office/drawing/2014/main" val="3890443193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3336865323"/>
                    </a:ext>
                  </a:extLst>
                </a:gridCol>
              </a:tblGrid>
              <a:tr h="314815">
                <a:tc>
                  <a:txBody>
                    <a:bodyPr/>
                    <a:lstStyle/>
                    <a:p>
                      <a:r>
                        <a:rPr lang="en-US" sz="1200" b="1" dirty="0"/>
                        <a:t>Time</a:t>
                      </a:r>
                      <a:endParaRPr lang="en-BE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Activity</a:t>
                      </a:r>
                      <a:endParaRPr lang="en-BE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494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09:00 – 09:15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Welcome and short introduction round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5708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09:15 – 09:30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Time-explicit LCA in a nutshell + walkthrough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719487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09:30 – 10:30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time-explicit case study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6932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10:30 – 10:50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 Break --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8279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10:50 – 11:40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dynamic impact assessment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91278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11:40 – 12:00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Discussion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9625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3580F42-65BA-01DD-3358-BE28D9634341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15282119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A0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PSI CEE V8" id="{2BB4AEE5-8367-4671-B632-010E068763F1}" vid="{538D6FCE-8F02-425D-84A1-A00371120DDA}"/>
    </a:ext>
  </a:extLst>
</a:theme>
</file>

<file path=ppt/theme/theme2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E5E3C04AD9940BE1163DF24C51D84" ma:contentTypeVersion="12" ma:contentTypeDescription="Een nieuw document maken." ma:contentTypeScope="" ma:versionID="3a38c0bc5736b18c8f8ecd866842ff36">
  <xsd:schema xmlns:xsd="http://www.w3.org/2001/XMLSchema" xmlns:xs="http://www.w3.org/2001/XMLSchema" xmlns:p="http://schemas.microsoft.com/office/2006/metadata/properties" xmlns:ns2="6101c2dd-267a-49f1-9179-dc61e9b00c04" xmlns:ns3="65c0d34e-f956-4aaa-94de-0432a0d12647" targetNamespace="http://schemas.microsoft.com/office/2006/metadata/properties" ma:root="true" ma:fieldsID="e3dc94be720fc7a0e320c1468a97baea" ns2:_="" ns3:_="">
    <xsd:import namespace="6101c2dd-267a-49f1-9179-dc61e9b00c04"/>
    <xsd:import namespace="65c0d34e-f956-4aaa-94de-0432a0d126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01c2dd-267a-49f1-9179-dc61e9b00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5631252e-6fa5-4b2b-9987-d0b6e83c6b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c0d34e-f956-4aaa-94de-0432a0d1264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5b75602-f66b-47a3-b071-5077381e76e0}" ma:internalName="TaxCatchAll" ma:showField="CatchAllData" ma:web="65c0d34e-f956-4aaa-94de-0432a0d126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c0d34e-f956-4aaa-94de-0432a0d12647" xsi:nil="true"/>
    <lcf76f155ced4ddcb4097134ff3c332f xmlns="6101c2dd-267a-49f1-9179-dc61e9b00c0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1C6D83-8A91-4387-B418-4203F02A30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01c2dd-267a-49f1-9179-dc61e9b00c04"/>
    <ds:schemaRef ds:uri="65c0d34e-f956-4aaa-94de-0432a0d126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6101c2dd-267a-49f1-9179-dc61e9b00c04"/>
    <ds:schemaRef ds:uri="http://schemas.microsoft.com/office/2006/documentManagement/types"/>
    <ds:schemaRef ds:uri="65c0d34e-f956-4aaa-94de-0432a0d12647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372</TotalTime>
  <Words>444</Words>
  <Application>Microsoft Macintosh PowerPoint</Application>
  <PresentationFormat>Widescreen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Benutzerdefiniertes Design</vt:lpstr>
      <vt:lpstr>PowerPoint Presentation</vt:lpstr>
      <vt:lpstr>Course day schedule</vt:lpstr>
      <vt:lpstr>PowerPoint Presentation</vt:lpstr>
      <vt:lpstr>‘Conventional’ LCA: “system today”</vt:lpstr>
      <vt:lpstr>Temporal Evolution: “prospective state of the system”</vt:lpstr>
      <vt:lpstr>Temporal distribution: “the system over time” </vt:lpstr>
      <vt:lpstr>Time-explicit LCA: “Temporal distribution + evolution”</vt:lpstr>
      <vt:lpstr>Summary</vt:lpstr>
      <vt:lpstr>Course day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for Energy Systems Analysis (LEA)</dc:title>
  <dc:creator>Kerchof Carolyn Brett</dc:creator>
  <dc:description>erstellt durch Vorlagenbauer.ch</dc:description>
  <cp:lastModifiedBy>Timo Diepers</cp:lastModifiedBy>
  <cp:revision>12</cp:revision>
  <cp:lastPrinted>2024-08-09T07:12:39Z</cp:lastPrinted>
  <dcterms:created xsi:type="dcterms:W3CDTF">2024-08-05T16:22:00Z</dcterms:created>
  <dcterms:modified xsi:type="dcterms:W3CDTF">2026-09-18T07:17:10Z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0x010100707E5E3C04AD9940BE1163DF24C51D84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Benutzerdefiniertes Design:8</vt:lpwstr>
  </property>
  <property fmtid="{D5CDD505-2E9C-101B-9397-08002B2CF9AE}" pid="5" name="ClassificationContentMarkingFooterText">
    <vt:lpwstr>Classified as Internal | Intern</vt:lpwstr>
  </property>
</Properties>
</file>